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3" r:id="rId5"/>
    <p:sldId id="260" r:id="rId6"/>
    <p:sldId id="264" r:id="rId7"/>
    <p:sldId id="265" r:id="rId8"/>
    <p:sldId id="266" r:id="rId9"/>
    <p:sldId id="267" r:id="rId10"/>
    <p:sldId id="262" r:id="rId11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45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</a:t>
            </a:r>
          </a:p>
          <a:p>
            <a:r>
              <a:rPr lang="en-US"/>
              <a:t>1) J.D. Power 2025 U.S. Auto Claims Satisfaction Study - cycle time 19.3 days (was 22.3): https://www.jdpower.com/business/press-releases/2025-us-auto-claims-satisfaction-study</a:t>
            </a:r>
          </a:p>
          <a:p>
            <a:r>
              <a:rPr lang="en-US"/>
              <a:t>2) Coalition Against Insurance Fraud (2022) - .6B annual US fraud cost: https://insurancefraud.org/wp-content/uploads/The-Impact-of-Insurance-Fraud-on-the-U.S.-Economy-Report-2022-8.26.2022.pdf</a:t>
            </a:r>
          </a:p>
          <a:p>
            <a:r>
              <a:rPr lang="en-US"/>
              <a:t>3) Accenture (2022) - Why AI in Insurance Claims and Underwriting -  premiums at risk, 30% switched / 47% considering: https://newsroom.accenture.com/news/2022/poor-claims-experiences-could-put-up-to-170b-of-global-insurance-premiums-at-risk-by-2027-according-to-new-accenture-research</a:t>
            </a:r>
          </a:p>
          <a:p>
            <a:r>
              <a:rPr lang="en-US"/>
              <a:t>4) NAIC AI Model Bulletin adoption - 24 states as of Mar 2025: https://www.insurereinsure.com/2025/03/19/wisconsin-becomes-the-24th-state-to-adopt-the-naic-model-bulletin-on-the-use-of-ais-in-insurance/</a:t>
            </a:r>
          </a:p>
          <a:p>
            <a:r>
              <a:rPr lang="en-US"/>
              <a:t>5) McKinsey - claims automation reduces loss adjustment expense 25-30%, indemnity 3-5 pts: https://www.mckinsey.com/industries/financial-services/our-insights/insurance-productivity-2030-reimagining-the-insurer-for-the-future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Value model math: 100,000 claims/yr x 60% Tier-1 straight-through = 60,000 claims. Personal-auto LAE benchmark 8-12% of losses; avg auto claim severity ~$4-6K -&gt; ~$400-600 LAE per claim; we assume ~$360 avoided per straight-through claim (the human-handling share) = ~$21.6M/yr. This sits inside McKinsey's published 25-30% LAE reduction band for claims automation.</a:t>
            </a:r>
          </a:p>
          <a:p>
            <a:r>
              <a:rPr lang="en-US"/>
              <a:t>Sources: McKinsey Insurance productivity 2030: https://www.mckinsey.com/industries/financial-services/our-insights/insurance-productivity-2030-reimagining-the-insurer-for-the-future</a:t>
            </a:r>
          </a:p>
          <a:p>
            <a:r>
              <a:rPr lang="en-US"/>
              <a:t>J.D. Power 2025 Auto Claims Study: https://www.jdpower.com/business/press-releases/2025-us-auto-claims-satisfaction-study</a:t>
            </a:r>
          </a:p>
          <a:p>
            <a:r>
              <a:rPr lang="en-US"/>
              <a:t>Coalition Against Insurance Fraud 2022: https://insurancefraud.org/wp-content/uploads/The-Impact-of-Insurance-Fraud-on-the-U.S.-Economy-Report-2022-8.26.2022.pdf</a:t>
            </a:r>
          </a:p>
          <a:p>
            <a:r>
              <a:rPr lang="en-US"/>
              <a:t>Accenture 2022: https://newsroom.accenture.com/news/2022/poor-claims-experiences-could-put-up-to-170b-of-global-insurance-premiums-at-risk-by-2027-according-to-new-accenture-research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Larsen &amp; Toubro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Company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498080" y="502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Hack2Future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04672" y="2487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x Microsoft Hackathon Partnership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3063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Box AI
Agentic Claims Processing - POC Submission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89320" y="1920240"/>
            <a:ext cx="155448" cy="15544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8" name="Shape 6"/>
          <p:cNvSpPr/>
          <p:nvPr/>
        </p:nvSpPr>
        <p:spPr>
          <a:xfrm>
            <a:off x="6163056" y="1920240"/>
            <a:ext cx="155448" cy="15544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9" name="Shape 7"/>
          <p:cNvSpPr/>
          <p:nvPr/>
        </p:nvSpPr>
        <p:spPr>
          <a:xfrm>
            <a:off x="5989320" y="2093976"/>
            <a:ext cx="155448" cy="15544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0" name="Shape 8"/>
          <p:cNvSpPr/>
          <p:nvPr/>
        </p:nvSpPr>
        <p:spPr>
          <a:xfrm>
            <a:off x="6163056" y="2093976"/>
            <a:ext cx="155448" cy="15544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6537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502920" cy="777240"/>
          </a:xfrm>
          <a:prstGeom prst="chevron">
            <a:avLst/>
          </a:prstGeom>
          <a:solidFill>
            <a:srgbClr val="D84E1A"/>
          </a:solidFill>
          <a:ln/>
        </p:spPr>
      </p:sp>
      <p:pic>
        <p:nvPicPr>
          <p:cNvPr id="13" name="Image 0" descr="assets/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6120"/>
            <a:ext cx="9144000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Eites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640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810616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Sameet Dandawate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48256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65096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2173072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956816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7552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5528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2424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Utkarsh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3168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0008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7984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2464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0440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6117336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044184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Suraj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0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4920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2896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1" name="Shape 29"/>
          <p:cNvSpPr/>
          <p:nvPr/>
        </p:nvSpPr>
        <p:spPr>
          <a:xfrm>
            <a:off x="7479792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Abhijit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1612"/>
              </p:ext>
            </p:extLst>
          </p:nvPr>
        </p:nvGraphicFramePr>
        <p:xfrm>
          <a:off x="411480" y="2606040"/>
          <a:ext cx="8321040" cy="24170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Elites</a:t>
                      </a:r>
                      <a:endParaRPr lang="en-US" sz="12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Challenge Statement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Challenge 2 - Insurance: Agentic Claims Processing (Personal Auto)</a:t>
                      </a:r>
                      <a:endParaRPr lang="en-US" sz="12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 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Box AI - agentic claims processing where every AI decision is explained in plain English</a:t>
                      </a:r>
                      <a:endParaRPr lang="en-US" sz="12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Statement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3A3A3A"/>
                          </a:solidFill>
                          <a:latin typeface="Arial"/>
                        </a:rPr>
                        <a:t>Auto insurance claims are slow, manual, and opaque - customers wait weeks and never learn why a decision was made. The challenge: process claims end-to-end with AI agents, fast and at scale, with every decision explainable and auditable.</a:t>
                      </a:r>
                      <a:endParaRPr lang="en-US" sz="11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36" name="Shape 3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8" name="Shape 3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9" name="Text 3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0"/>
            <a:ext cx="2331720" cy="5143500"/>
          </a:xfrm>
          <a:prstGeom prst="rect">
            <a:avLst/>
          </a:prstGeom>
          <a:solidFill>
            <a:srgbClr val="F6E3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790952"/>
              </p:ext>
            </p:extLst>
          </p:nvPr>
        </p:nvGraphicFramePr>
        <p:xfrm>
          <a:off x="411480" y="1005840"/>
          <a:ext cx="612648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Overview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A2A2A"/>
                          </a:solidFill>
                          <a:latin typeface="Arial"/>
                        </a:rPr>
                        <a:t>Four layers, end to end: Channels (React app - web/mobile - with embedded Copilot Studio chat "Sara", plus Email/Teams/SMS) -&gt; Agents (Intake, Extraction, Policy, Validation, Adjudication, Explanation) -&gt; Service layer (Power Automate flows; agents never touch the database directly) -&gt; Data + AI (Dataverse, Azure OpenAI GPT-4.1, Azure AI Search, Document Intelligence). Every agent writes a plain-English Decision_Rationale row BEFORE acting - the Glass Box. Hosted end-to-end on Azure. Diagram on the next slide.</a:t>
                      </a:r>
                      <a:endParaRPr lang="en-US" sz="10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Components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(Microsoft Technology / Services Touched)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sz="1000">
                          <a:solidFill>
                            <a:srgbClr val="2A2A2A"/>
                          </a:solidFill>
                          <a:latin typeface="Arial"/>
                        </a:rPr>
                        <a:t>Copilot Studio (Sara - FNOL intake) - Power Automate (GetPolicy, CreateClaim, LogDecision, GetClaimAudit, MasterOrchestration) - Dataverse (9 tables incl. Decision_Rationale audit) - Azure OpenAI GPT-4.1 (photo-damage vision + adjudication + explanations) - Azure AI Search (policy RAG) - Azure AI Document Intelligence - Azure Communication Services (real email; Teams/SMS) - React SPA hosted on Azure Functions (custom handler serves the app + API) - External data: NOAA + NHTSA live, 6 sandbox adapters (ISO, NICB, CARFAX, DMV, KBB, telematics)</a:t>
                      </a:r>
                      <a:endParaRPr lang="en-US" sz="10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Compliance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sz="1000">
                          <a:solidFill>
                            <a:srgbClr val="2A2A2A"/>
                          </a:solidFill>
                          <a:latin typeface="Arial"/>
                        </a:rPr>
                        <a:t>Microsoft Entra ID SSO (mock in sandbox) - Azure Functions Managed Identity -&gt; Dataverse (no stored secrets) - Dataverse role-based access + row ownership - Encryption in transit and at rest - Immutable plain-English audit row per AI decision -&gt; Colorado SB21-169 / NAIC / NY DFS readiness - No PII sent to external APIs</a:t>
                      </a:r>
                      <a:endParaRPr lang="en-US" sz="10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995160" y="118872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i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Glass Box principle:
If an AI touches a claim, it writes down WHY - in language a regulator, a customer, and a judge can all read.
Full end-to-end flow diagram on the next slide.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795528"/>
            <a:ext cx="6995160" cy="38770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5254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Approach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117090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Challenge (20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claims processing, literally: six agents (Intake -&gt; Extraction -&gt; Policy -&gt; Validation -&gt; Adjudication -&gt; Explanation) take a personal-auto FNOL to a decision. Live: a chat with Sara creates a real claim + audit row in Dataverse in ~30s. All 11 auto loss types, all 5 lifecycle phases.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 &amp; Creativity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Glass Box: every agent logs WHY in plain English BEFORE acting - compliance is the architecture, not a report. Theater Mode: watch the agents decide, live.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Implementation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Built, not slideware: published Copilot Studio agent embedded in our React app · 4 live Power Automate flows · 9-table Dataverse schema · GPT-4.1 adjudication · real NOAA + NHTSA calls · 6 sandboxed MCP tool adapters.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Experience (15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4-question conversation - 911 triage, injury empathy stop, claim number in chat. Adjusters: tiered queue (auto / review / escalate) + one-click live Theater. Same Sara on app, web, Teams, SMS, email.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&amp; Scalability (15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FNOL to decision in minutes vs the 19.3-day US norm (J.D. Power 2025); Tier-1 routine claims auto-approve. Policy lookup indexed for 200M policies; audit retrieval is one query per claim.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 &amp; Pitch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Arc: distressed customer -&gt; 4-question chat -&gt; real claim number -&gt; Theater shows the agents deciding -&gt; the audit row that explains it. The video follows the same arc.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Adaptability &amp; Flexibility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Box is decision-agnostic: property, underwriting, lending, benefits reuse the log-before-acting pattern. Loss types, gate checks, state rules are Dataverse config, not code.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Impression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real system judges can poke: file a claim live, watch it process, read why.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does your POC/Tool worthy of GTM development 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 states adopting NAIC AI accountability -&gt; explainable claims AI becomes a license to automate. Ships on the carrier's existing Microsoft tenant. Path: pilot -&gt; state-filing audit pack -&gt; product.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4800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43000" y="4873752"/>
            <a:ext cx="82296" cy="82296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1236269" y="4873752"/>
            <a:ext cx="82296" cy="82296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143000" y="4967021"/>
            <a:ext cx="82296" cy="8229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236269" y="4967021"/>
            <a:ext cx="82296" cy="8229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355141" y="4818888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48371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49640" y="48371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Problem - By The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EDECB-1288-057D-460F-A8A29731514D}"/>
              </a:ext>
            </a:extLst>
          </p:cNvPr>
          <p:cNvSpPr txBox="1"/>
          <p:nvPr/>
        </p:nvSpPr>
        <p:spPr>
          <a:xfrm>
            <a:off x="381000" y="10668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19.3 days</a:t>
            </a:r>
          </a:p>
          <a:p>
            <a:r>
              <a:rPr lang="en-US" sz="950">
                <a:solidFill>
                  <a:srgbClr val="333333"/>
                </a:solidFill>
              </a:rPr>
              <a:t>average US auto repairable-claim cycle time - and that is the IMPROVED number, down from 22.3 days a year earlier</a:t>
            </a:r>
          </a:p>
          <a:p>
            <a:r>
              <a:rPr lang="en-US" sz="800" i="1">
                <a:solidFill>
                  <a:srgbClr val="787878"/>
                </a:solidFill>
              </a:rPr>
              <a:t>J.D. Power 2025 U.S. Auto Claims Satisfaction Study (9,455 claimants)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13DA1-314A-8708-C256-F96BFFAF1D58}"/>
              </a:ext>
            </a:extLst>
          </p:cNvPr>
          <p:cNvSpPr txBox="1"/>
          <p:nvPr/>
        </p:nvSpPr>
        <p:spPr>
          <a:xfrm>
            <a:off x="4699000" y="10668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$308.6B / year</a:t>
            </a:r>
          </a:p>
          <a:p>
            <a:r>
              <a:rPr lang="en-US" sz="950">
                <a:solidFill>
                  <a:srgbClr val="333333"/>
                </a:solidFill>
              </a:rPr>
              <a:t>lost to insurance fraud in the US - ~$45B of it in property &amp; casualty lines. Most fraud checks today are sampled, not universal</a:t>
            </a:r>
          </a:p>
          <a:p>
            <a:r>
              <a:rPr lang="en-US" sz="800" i="1">
                <a:solidFill>
                  <a:srgbClr val="787878"/>
                </a:solidFill>
              </a:rPr>
              <a:t>Coalition Against Insurance Fraud, 2022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53809-0BD3-BAB5-E42C-B069435FE1C5}"/>
              </a:ext>
            </a:extLst>
          </p:cNvPr>
          <p:cNvSpPr txBox="1"/>
          <p:nvPr/>
        </p:nvSpPr>
        <p:spPr>
          <a:xfrm>
            <a:off x="381000" y="26924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$170B at risk by 2027</a:t>
            </a:r>
          </a:p>
          <a:p>
            <a:r>
              <a:rPr lang="en-US" sz="950">
                <a:solidFill>
                  <a:srgbClr val="333333"/>
                </a:solidFill>
              </a:rPr>
              <a:t>global premiums exposed to poor claims experiences: 30% of dissatisfied claimants already switched carriers, another 47% are considering it</a:t>
            </a:r>
          </a:p>
          <a:p>
            <a:r>
              <a:rPr lang="en-US" sz="800" i="1">
                <a:solidFill>
                  <a:srgbClr val="787878"/>
                </a:solidFill>
              </a:rPr>
              <a:t>Accenture, "Why AI in Insurance Claims &amp; Underwriting" (6,700 policyholders, 25 countries)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F026F7-EF7A-8D60-1C6B-578436D8AC4B}"/>
              </a:ext>
            </a:extLst>
          </p:cNvPr>
          <p:cNvSpPr txBox="1"/>
          <p:nvPr/>
        </p:nvSpPr>
        <p:spPr>
          <a:xfrm>
            <a:off x="4699000" y="26924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24 states</a:t>
            </a:r>
          </a:p>
          <a:p>
            <a:r>
              <a:rPr lang="en-US" sz="950">
                <a:solidFill>
                  <a:srgbClr val="333333"/>
                </a:solidFill>
              </a:rPr>
              <a:t>have adopted the NAIC AI Model Bulletin (as of Mar 2025) + Colorado SB21-169 + NY DFS Circular 7: UNEXPLAINABLE AI is now undeployable in US insurance</a:t>
            </a:r>
          </a:p>
          <a:p>
            <a:r>
              <a:rPr lang="en-US" sz="800" i="1">
                <a:solidFill>
                  <a:srgbClr val="787878"/>
                </a:solidFill>
              </a:rPr>
              <a:t>NAIC / state insurance departments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543D85-1A64-6250-BF7B-2B491E35E889}"/>
              </a:ext>
            </a:extLst>
          </p:cNvPr>
          <p:cNvSpPr txBox="1"/>
          <p:nvPr/>
        </p:nvSpPr>
        <p:spPr>
          <a:xfrm>
            <a:off x="381000" y="4419600"/>
            <a:ext cx="838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950" i="1">
                <a:solidFill>
                  <a:srgbClr val="787878"/>
                </a:solidFill>
              </a:rPr>
              <a:t>Handling cost: loss adjustment expense (LAE) runs 8-12% of losses in personal auto - every routine claim carries heavy manual handling cost (industry benchmark). Full source links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359756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D9AD69-5247-0181-73B6-FED2A3E70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82036"/>
              </p:ext>
            </p:extLst>
          </p:nvPr>
        </p:nvGraphicFramePr>
        <p:xfrm>
          <a:off x="381000" y="1066800"/>
          <a:ext cx="5207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35829879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4866188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2340110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 sz="950" b="1" i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E25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 i="0">
                          <a:solidFill>
                            <a:srgbClr val="FFFFFF"/>
                          </a:solidFill>
                        </a:rPr>
                        <a:t>Today (US industry)</a:t>
                      </a:r>
                    </a:p>
                  </a:txBody>
                  <a:tcPr>
                    <a:solidFill>
                      <a:srgbClr val="E25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 i="0">
                          <a:solidFill>
                            <a:srgbClr val="FFFFFF"/>
                          </a:solidFill>
                        </a:rPr>
                        <a:t>With Glass Box AI</a:t>
                      </a:r>
                    </a:p>
                  </a:txBody>
                  <a:tcPr>
                    <a:solidFill>
                      <a:srgbClr val="E257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31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FNOL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30-min forms + phone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2-minute conversation with Sara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4521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Routine claim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19.3 days (J.D. Power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Minutes - Tier-1 straight-through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9389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Regulator / exam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Weeks reconstructing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One query - the audit wrote itself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89305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Adjuster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Buried in routine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Focused on Tier-2/3 judgment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547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Customer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Silence between letters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Plain-English "why" at every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131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FC6686-1B76-6C9B-5735-B52B64A7A757}"/>
              </a:ext>
            </a:extLst>
          </p:cNvPr>
          <p:cNvSpPr txBox="1"/>
          <p:nvPr/>
        </p:nvSpPr>
        <p:spPr>
          <a:xfrm>
            <a:off x="5816600" y="1066800"/>
            <a:ext cx="2946400" cy="3048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333333"/>
                </a:solidFill>
              </a:rPr>
              <a:t>Value model - anchored to published research</a:t>
            </a:r>
          </a:p>
          <a:p>
            <a:r>
              <a:rPr lang="en-US" sz="900" i="1">
                <a:solidFill>
                  <a:srgbClr val="333333"/>
                </a:solidFill>
              </a:rPr>
              <a:t>McKinsey: straight-through processing + AI cuts loss adjustment expense 25-30% and indemnity 3-5 pts</a:t>
            </a:r>
          </a:p>
          <a:p>
            <a:endParaRPr lang="en-US" sz="900">
              <a:solidFill>
                <a:srgbClr val="333333"/>
              </a:solidFill>
            </a:endParaRPr>
          </a:p>
          <a:p>
            <a:r>
              <a:rPr lang="en-US" sz="900">
                <a:solidFill>
                  <a:srgbClr val="333333"/>
                </a:solidFill>
              </a:rPr>
              <a:t>Mid-size carrier, 100,000 auto claims/yr: ~60% Tier-1 eligible = 60,000 straight-through · ~$360 LAE avoided each (8-12% LAE benchmark)</a:t>
            </a:r>
          </a:p>
          <a:p>
            <a:r>
              <a:rPr lang="en-US" sz="1500" b="1">
                <a:solidFill>
                  <a:srgbClr val="E2571B"/>
                </a:solidFill>
              </a:rPr>
              <a:t>= ~$21M annual LAE reduction</a:t>
            </a:r>
          </a:p>
          <a:p>
            <a:r>
              <a:rPr lang="en-US" sz="900">
                <a:solidFill>
                  <a:srgbClr val="333333"/>
                </a:solidFill>
              </a:rPr>
              <a:t>Time: 19.3-day industry cycle -&gt; minutes (Tier 1) · Accuracy: 7 validations on 100% of claims, not samples - against a $308.6B/yr fraud drain · Retention: fixes the experience that made 30% of dissatisfied claimants switch.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69A390-5AF6-9A26-9D3A-9D9DB1169D86}"/>
              </a:ext>
            </a:extLst>
          </p:cNvPr>
          <p:cNvSpPr txBox="1"/>
          <p:nvPr/>
        </p:nvSpPr>
        <p:spPr>
          <a:xfrm>
            <a:off x="381000" y="4419600"/>
            <a:ext cx="8382000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900" i="1">
                <a:solidFill>
                  <a:srgbClr val="787878"/>
                </a:solidFill>
              </a:rPr>
              <a:t>Measured in this POC today: 30 sec from chat to claim + audit row · 100% of AI decisions logged · live NOAA + NHTSA calls. Sources: J.D. Power 2025 · CAIF 2022 · Accenture 2022 · McKinsey (links in slide notes).</a:t>
            </a:r>
          </a:p>
        </p:txBody>
      </p:sp>
    </p:spTree>
    <p:extLst>
      <p:ext uri="{BB962C8B-B14F-4D97-AF65-F5344CB8AC3E}">
        <p14:creationId xmlns:p14="http://schemas.microsoft.com/office/powerpoint/2010/main" val="382929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POC - Customer Experience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E247F9-6575-31EF-7933-D2CEDF315448}"/>
              </a:ext>
            </a:extLst>
          </p:cNvPr>
          <p:cNvSpPr txBox="1"/>
          <p:nvPr/>
        </p:nvSpPr>
        <p:spPr>
          <a:xfrm>
            <a:off x="2292724" y="3632200"/>
            <a:ext cx="2342776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One tap from policy to filing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09CF5-D6F2-6239-928E-855AF75B2D2F}"/>
              </a:ext>
            </a:extLst>
          </p:cNvPr>
          <p:cNvSpPr txBox="1"/>
          <p:nvPr/>
        </p:nvSpPr>
        <p:spPr>
          <a:xfrm>
            <a:off x="4508500" y="3632200"/>
            <a:ext cx="2342776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Sara files a REAL claim in 4 questions</a:t>
            </a:r>
          </a:p>
        </p:txBody>
      </p:sp>
      <p:pic>
        <p:nvPicPr>
          <p:cNvPr id="17" name="Picture 16" descr="cust_dashboard.png"/>
          <p:cNvPicPr>
            <a:picLocks noChangeAspect="1"/>
          </p:cNvPicPr>
          <p:nvPr/>
        </p:nvPicPr>
        <p:blipFill>
          <a:blip r:embed="rId3"/>
          <a:srcRect l="34000" t="2000" r="34000"/>
          <a:stretch>
            <a:fillRect/>
          </a:stretch>
        </p:blipFill>
        <p:spPr>
          <a:xfrm>
            <a:off x="2854825" y="1206500"/>
            <a:ext cx="1218573" cy="2349500"/>
          </a:xfrm>
          <a:prstGeom prst="rect">
            <a:avLst/>
          </a:prstGeom>
        </p:spPr>
      </p:pic>
      <p:pic>
        <p:nvPicPr>
          <p:cNvPr id="18" name="Picture 17" descr="cust_photo_assess.png"/>
          <p:cNvPicPr>
            <a:picLocks noChangeAspect="1"/>
          </p:cNvPicPr>
          <p:nvPr/>
        </p:nvPicPr>
        <p:blipFill>
          <a:blip r:embed="rId4"/>
          <a:srcRect l="34000" t="2000" r="34000"/>
          <a:stretch>
            <a:fillRect/>
          </a:stretch>
        </p:blipFill>
        <p:spPr>
          <a:xfrm>
            <a:off x="5134335" y="1206500"/>
            <a:ext cx="1091105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1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POC - Theater Mode,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52FEC4-0E9D-CF20-3F94-245CE7E055B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86419" y="1206500"/>
            <a:ext cx="4371163" cy="2349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9701FC-666D-6F76-87AB-D07320946748}"/>
              </a:ext>
            </a:extLst>
          </p:cNvPr>
          <p:cNvSpPr txBox="1"/>
          <p:nvPr/>
        </p:nvSpPr>
        <p:spPr>
          <a:xfrm>
            <a:off x="2386419" y="3632200"/>
            <a:ext cx="4371163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Real Dataverse audit rows: agent pipeline + plain-English Glass Box feed + auto-approve verdict</a:t>
            </a:r>
          </a:p>
        </p:txBody>
      </p:sp>
    </p:spTree>
    <p:extLst>
      <p:ext uri="{BB962C8B-B14F-4D97-AF65-F5344CB8AC3E}">
        <p14:creationId xmlns:p14="http://schemas.microsoft.com/office/powerpoint/2010/main" val="88959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POC - Adjuster Command Center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213CF0-2915-ECBD-E757-AD748DB731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86419" y="1206500"/>
            <a:ext cx="4371163" cy="2349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80DA24-AB30-1F5C-BB86-B4001F87123B}"/>
              </a:ext>
            </a:extLst>
          </p:cNvPr>
          <p:cNvSpPr txBox="1"/>
          <p:nvPr/>
        </p:nvSpPr>
        <p:spPr>
          <a:xfrm>
            <a:off x="2386419" y="3632200"/>
            <a:ext cx="4371163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Tiered queue: Tier 1 auto-approved, Tier 2 human review, Tier 3 escalation - one click to watch 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Links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4160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200">
                <a:solidFill>
                  <a:srgbClr val="F4501C"/>
                </a:solidFill>
              </a:rPr>
              <a:t>Data &amp; research sources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J.D. Power — 2025 U.S. Auto Claims Satisfaction Study (19.3-day cycle time)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McKinsey — "Insurance 2030" &amp; "Claims 2030" (straight-through processing; 25-30% LAE)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Triple-I (Insurance Information Institute) — auto underwriting, 2023-24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Deloitte — AI fraud-savings analysis (2025); U.S. P&amp;C auto-claims case study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Accenture — claims-experience research, 2022 (premiums at risk)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Coalition Against Insurance Fraud — Impact of Fraud, 2022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Insurance Research Council — auto-injury fraud / buildup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NAIC — Market Share Report; AI Model Bulletin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F4501C"/>
                </a:solidFill>
              </a:rPr>
              <a:t>Regulatory references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Colorado SB21-169 — AI/ML insurer governance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NAIC AI Model Bulletin (adopted in 20+ states)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NY DFS Circular Letter No. 7 (2024)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California AB 2930 (pending)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0515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200">
                <a:solidFill>
                  <a:srgbClr val="F4501C"/>
                </a:solidFill>
              </a:rPr>
              <a:t>Project links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GitHub repo — github.com/Sameet1308/Hack2future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Live app — glassbox-fn-1003787.azurewebsites.net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Pitch deck — glassbox-fn-1003787.azurewebsites.net/present.html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Confluence (PM space) — aieliteltm.atlassian.net/wiki/spaces/PM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F4501C"/>
                </a:solidFill>
              </a:rPr>
              <a:t>Microsoft / official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Microsoft Copilot Studio Kit (learn.microsoft.com)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microsoft/claims-processing-hack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MSUSAzureAccelerators/AI-Powered-Insurance-Claims-Automation-Accelerator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F4501C"/>
                </a:solidFill>
              </a:rPr>
              <a:t>Built on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Copilot Studio · Power Automate · Dataverse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Azure OpenAI GPT-4.1 · AI Search · Document Intelligence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334155"/>
                </a:solidFill>
              </a:rPr>
              <a:t>•  Azure Communication Services · Azure Functions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Microsoft Office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Hack2Future - POC+Solution Submission Template</dc:title>
  <dc:subject>PptxGenJS Presentation</dc:subject>
  <dc:creator>PptxGenJS</dc:creator>
  <cp:lastModifiedBy>Sameet Dandawate</cp:lastModifiedBy>
  <cp:revision>3</cp:revision>
  <dcterms:created xsi:type="dcterms:W3CDTF">2026-06-12T03:43:12Z</dcterms:created>
  <dcterms:modified xsi:type="dcterms:W3CDTF">2026-06-16T03:23:05Z</dcterms:modified>
</cp:coreProperties>
</file>