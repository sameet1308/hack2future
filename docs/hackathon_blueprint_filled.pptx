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6" r:id="rId2"/>
    <p:sldId id="297" r:id="rId3"/>
    <p:sldId id="301" r:id="rId4"/>
    <p:sldId id="303" r:id="rId5"/>
    <p:sldId id="304" r:id="rId14"/>
    <p:sldId id="302" r:id="rId6"/>
    <p:sldId id="280" r:id="rId7"/>
    <p:sldId id="28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Sameet1308/Hack2future" TargetMode="External"/><Relationship Id="rId4" Type="http://schemas.openxmlformats.org/officeDocument/2006/relationships/hyperlink" Target="https://github.com/Sameet1308/Hack2future/blob/main/docs/diagrams/02_logical_architecture.drawio" TargetMode="External"/><Relationship Id="rId5" Type="http://schemas.openxmlformats.org/officeDocument/2006/relationships/hyperlink" Target="https://github.com/Sameet1308/Hack2future/blob/main/docs/diagrams/03_er_diagram.drawio" TargetMode="External"/><Relationship Id="rId6" Type="http://schemas.openxmlformats.org/officeDocument/2006/relationships/hyperlink" Target="https://github.com/Sameet1308/Hack2future/blob/main/docs/diagrams/04_assignment_flows.drawio" TargetMode="External"/><Relationship Id="rId7" Type="http://schemas.openxmlformats.org/officeDocument/2006/relationships/hyperlink" Target="https://github.com/Sameet1308/Hack2future/blob/main/docs/diagrams/05_blueprint_flow.drawio" TargetMode="External"/><Relationship Id="rId8" Type="http://schemas.openxmlformats.org/officeDocument/2006/relationships/hyperlink" Target="https://github.com/Sameet1308/Hack2future/blob/main/docs/diagrams/06_agent_architecture.drawio" TargetMode="External"/><Relationship Id="rId9" Type="http://schemas.openxmlformats.org/officeDocument/2006/relationships/hyperlink" Target="https://github.com/Sameet1308/Hack2future/blob/main/docs/schema/glassbox_schema.csv" TargetMode="External"/><Relationship Id="rId10" Type="http://schemas.openxmlformats.org/officeDocument/2006/relationships/hyperlink" Target="https://github.com/Sameet1308/Hack2future/blob/main/docs/schema/glassbox_schema.xlsx" TargetMode="External"/><Relationship Id="rId11" Type="http://schemas.openxmlformats.org/officeDocument/2006/relationships/hyperlink" Target="https://aieliteltm.atlassian.net/wiki/spaces/PM/overview" TargetMode="External"/><Relationship Id="rId12" Type="http://schemas.openxmlformats.org/officeDocument/2006/relationships/hyperlink" Target="https://aieliteltm.atlassian.net/wiki/spaces/PM/pages/1802274" TargetMode="External"/><Relationship Id="rId13" Type="http://schemas.openxmlformats.org/officeDocument/2006/relationships/hyperlink" Target="https://aieliteltm.atlassian.net/wiki/spaces/PM/pages/1802251" TargetMode="External"/><Relationship Id="rId14" Type="http://schemas.openxmlformats.org/officeDocument/2006/relationships/hyperlink" Target="https://aieliteltm.atlassian.net/wiki/spaces/PM/pages/1769476" TargetMode="External"/><Relationship Id="rId15" Type="http://schemas.openxmlformats.org/officeDocument/2006/relationships/hyperlink" Target="https://aieliteltm.atlassian.net/wiki/spaces/PM/pages/2097154" TargetMode="External"/><Relationship Id="rId16" Type="http://schemas.openxmlformats.org/officeDocument/2006/relationships/hyperlink" Target="https://aieliteltm.atlassian.net/wiki/spaces/PM/pages/1638411" TargetMode="External"/><Relationship Id="rId17" Type="http://schemas.openxmlformats.org/officeDocument/2006/relationships/hyperlink" Target="mailto:sameetdandawate@gmail.com?subject=Glass%20Box%20AI%20Confluence%20access%20reques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BA9B84-F734-96CC-4B90-4D7A566A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63500"/>
            <a:ext cx="2873774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0006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45720"/>
            <a:ext cx="640080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b="1">
                <a:solidFill>
                  <a:srgbClr val="0A2540"/>
                </a:solidFill>
              </a:rPr>
              <a:t>Logical Architecture (C4 L2)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415"/>
            <a:ext cx="9144000" cy="50166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200" b="1" i="0">
                <a:solidFill>
                  <a:srgbClr val="0A2540"/>
                </a:solidFill>
              </a:rPr>
              <a:t>References &amp; Supporting Material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8412480" cy="22860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 b="0" i="1">
                <a:solidFill>
                  <a:srgbClr val="5A6680"/>
                </a:solidFill>
              </a:rPr>
              <a:t>All artifacts live in two places — public GitHub repo (read-only) and Confluence (PM space, access on request).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4160520" cy="256032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200" b="1" i="0">
                <a:solidFill>
                  <a:srgbClr val="0A2540"/>
                </a:solidFill>
              </a:rPr>
              <a:t>📁  GitHub Repository  (public, no access needed)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4160520" cy="22860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100" b="1" u="sng">
                <a:solidFill>
                  <a:srgbClr val="0563C1"/>
                </a:solidFill>
                <a:hlinkClick r:id="rId3"/>
              </a:rPr>
              <a:t>github.com/Sameet1308/Hack2future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4160520" cy="22860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000" b="1" i="0">
                <a:solidFill>
                  <a:srgbClr val="0A2540"/>
                </a:solidFill>
              </a:rPr>
              <a:t>Diagrams  (open in app.diagrams.net):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4"/>
              </a:rPr>
              <a:t>02_logical_architecture.drawio  ·  C4 Level 2 swimlanes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5"/>
              </a:rPr>
              <a:t>03_er_diagram.drawio  ·  8 entities +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6"/>
              </a:rPr>
              <a:t>04_assignment_flows.drawio  ·  Handler + Vendor engines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2304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7"/>
              </a:rPr>
              <a:t>05_blueprint_flow.drawio  ·  half-slide solution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33472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8"/>
              </a:rPr>
              <a:t>06_agent_architecture.drawio  ·  6 agents, parallel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07792"/>
            <a:ext cx="4160520" cy="22860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000" b="1" i="0">
                <a:solidFill>
                  <a:srgbClr val="0A2540"/>
                </a:solidFill>
              </a:rPr>
              <a:t>Schema files: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36392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9"/>
              </a:rPr>
              <a:t>glassbox_schema.csv  ·  logical + physical column names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37560"/>
            <a:ext cx="4023359" cy="1828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 b="0" i="0">
                <a:solidFill>
                  <a:srgbClr val="5A6680"/>
                </a:solidFill>
              </a:rPr>
              <a:t>• </a:t>
            </a:r>
            <a:r>
              <a:rPr sz="900" b="0" u="sng">
                <a:solidFill>
                  <a:srgbClr val="0563C1"/>
                </a:solidFill>
                <a:hlinkClick r:id="rId10"/>
              </a:rPr>
              <a:t>glassbox_schema.xlsx  ·  10-sheet color-coded 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005840"/>
            <a:ext cx="4160520" cy="256032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200" b="1" i="0">
                <a:solidFill>
                  <a:srgbClr val="0A2540"/>
                </a:solidFill>
              </a:rPr>
              <a:t>📚  Confluence  (PM space  ·  access on request)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280160"/>
            <a:ext cx="4160520" cy="22860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100" b="1" u="sng">
                <a:solidFill>
                  <a:srgbClr val="0563C1"/>
                </a:solidFill>
                <a:hlinkClick r:id="rId11"/>
              </a:rPr>
              <a:t>aieliteltm.atlassian.net/wiki/spaces/PM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600200"/>
            <a:ext cx="4160520" cy="38404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1" u="sng">
                <a:solidFill>
                  <a:srgbClr val="0563C1"/>
                </a:solidFill>
                <a:hlinkClick r:id="rId12"/>
              </a:rPr>
              <a:t>Product Requirements (PRD)  ·  R1–R25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002536"/>
            <a:ext cx="4160520" cy="38404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1" u="sng">
                <a:solidFill>
                  <a:srgbClr val="0563C1"/>
                </a:solidFill>
                <a:hlinkClick r:id="rId13"/>
              </a:rPr>
              <a:t>Dataverse Schema  ·  8 tables, slim + JSON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404872"/>
            <a:ext cx="4160520" cy="38404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1" u="sng">
                <a:solidFill>
                  <a:srgbClr val="0563C1"/>
                </a:solidFill>
                <a:hlinkClick r:id="rId14"/>
              </a:rPr>
              <a:t>Architecture  ·  4 layers, channels → orchestration → agents →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807208"/>
            <a:ext cx="4160520" cy="38404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1" u="sng">
                <a:solidFill>
                  <a:srgbClr val="0563C1"/>
                </a:solidFill>
                <a:hlinkClick r:id="rId15"/>
              </a:rPr>
              <a:t>Architectural Decisions Log  ·  17+ ADRs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209544"/>
            <a:ext cx="4160520" cy="38404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1" u="sng">
                <a:solidFill>
                  <a:srgbClr val="0563C1"/>
                </a:solidFill>
                <a:hlinkClick r:id="rId16"/>
              </a:rPr>
              <a:t>Intake Agent FNOL Spec  ·  11 loss types, sub-flows, escalation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</a:rPr>
              <a:t>🔑  How to request Confluence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120640"/>
            <a:ext cx="841248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000" b="1" i="0">
                <a:solidFill>
                  <a:srgbClr val="92400E"/>
                </a:solidFill>
              </a:rPr>
              <a:t>1.  </a:t>
            </a:r>
            <a:r>
              <a:rPr sz="1000" b="0" i="0">
                <a:solidFill>
                  <a:srgbClr val="0A2540"/>
                </a:solidFill>
              </a:rPr>
              <a:t>Open </a:t>
            </a:r>
            <a:r>
              <a:rPr sz="1000" b="0" u="sng">
                <a:solidFill>
                  <a:srgbClr val="0563C1"/>
                </a:solidFill>
                <a:hlinkClick r:id="rId11"/>
              </a:rPr>
              <a:t>aieliteltm.atlassian.net/wiki/spaces/PM</a:t>
            </a:r>
            <a:r>
              <a:rPr sz="1000" b="0" i="0">
                <a:solidFill>
                  <a:srgbClr val="0A2540"/>
                </a:solidFill>
              </a:rPr>
              <a:t>  →  Atlassian will prompt you to sign in with a Microsoft / Google / Atlassian account.</a:t>
            </a:r>
          </a:p>
          <a:p>
            <a:pPr algn="l"/>
            <a:r>
              <a:rPr sz="1000" b="1" i="0">
                <a:solidFill>
                  <a:srgbClr val="92400E"/>
                </a:solidFill>
              </a:rPr>
              <a:t>2.  </a:t>
            </a:r>
            <a:r>
              <a:rPr sz="1000" b="0" i="0">
                <a:solidFill>
                  <a:srgbClr val="0A2540"/>
                </a:solidFill>
              </a:rPr>
              <a:t>Click any restricted page  →  use the "Request access" link.  Approval lands in the space admin's inbox.</a:t>
            </a:r>
          </a:p>
          <a:p>
            <a:pPr algn="l"/>
            <a:r>
              <a:rPr sz="1000" b="1" i="0">
                <a:solidFill>
                  <a:srgbClr val="92400E"/>
                </a:solidFill>
              </a:rPr>
              <a:t>3.  </a:t>
            </a:r>
            <a:r>
              <a:rPr sz="1000" b="0" i="0">
                <a:solidFill>
                  <a:srgbClr val="0A2540"/>
                </a:solidFill>
              </a:rPr>
              <a:t>Faster path  —  email the team lead with your Atlassian-account email:  </a:t>
            </a:r>
            <a:r>
              <a:rPr sz="1000" b="1" u="sng">
                <a:solidFill>
                  <a:srgbClr val="0563C1"/>
                </a:solidFill>
                <a:hlinkClick r:id="rId17"/>
              </a:rPr>
              <a:t>sameetdandawate@gmail.com</a:t>
            </a:r>
            <a:r>
              <a:rPr sz="1000" b="0" i="0">
                <a:solidFill>
                  <a:srgbClr val="0A2540"/>
                </a:solidFill>
              </a:rPr>
              <a:t>  (typical turnaround under 1 business day).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3396</TotalTime>
  <Words>1530</Words>
  <Application>Microsoft Office PowerPoint</Application>
  <PresentationFormat>On-screen Show (16:9)</PresentationFormat>
  <Paragraphs>183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5</cp:revision>
  <dcterms:created xsi:type="dcterms:W3CDTF">2026-05-14T21:25:56Z</dcterms:created>
  <dcterms:modified xsi:type="dcterms:W3CDTF">2026-05-18T03:32:16Z</dcterms:modified>
</cp:coreProperties>
</file>