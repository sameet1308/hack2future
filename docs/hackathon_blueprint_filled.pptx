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96" r:id="rId2"/>
    <p:sldId id="297" r:id="rId3"/>
    <p:sldId id="301" r:id="rId4"/>
    <p:sldId id="303" r:id="rId5"/>
    <p:sldId id="304" r:id="rId14"/>
    <p:sldId id="302" r:id="rId6"/>
    <p:sldId id="280" r:id="rId7"/>
    <p:sldId id="28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6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96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312533"/>
              </p:ext>
            </p:extLst>
          </p:nvPr>
        </p:nvGraphicFramePr>
        <p:xfrm>
          <a:off x="365760" y="877824"/>
          <a:ext cx="8412480" cy="405511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AI Elites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SPOC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Sameet Dandawate (SPOC) · Prasad Barsode · Rahul Chavan · Suraj Chaudhari · Abhijeet Rajvaidya · Utkarsh Agrawal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Challenge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Business Challenge 2 — Insurance Agentic Claims Processing.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Build an Agentic AI system for end-to-end claim processing — multi-channel intake, policy validation and missing-information retrieval, document understanding, adjudication, human-in-the-loop handling, and CSR support.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Value to Business: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Faster claim settlement cycles · reduced manual processing · improved accuracy &amp; fraud detection · enhanced customer satisfaction.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Key Objectives: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Design multi-agent workflows · implement document-understanding pipelines · build adjudication logic · enable human-in-loop escalation flows.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Innovation &amp; Skills: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· Azure AI · Power Automate · Dataverse · Teams · MCP tools.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Please state the exact one liner of the challenge mentioned in the site which was picked during registration.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/>
                        </a:rPr>
                        <a:t>Insurance Agentic Claims Processing Solution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a clear, concise title that reflects the problem being solved and the proposed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619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" y="-7620"/>
            <a:ext cx="8412480" cy="3886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98120" y="380999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17026"/>
              </p:ext>
            </p:extLst>
          </p:nvPr>
        </p:nvGraphicFramePr>
        <p:xfrm>
          <a:off x="198120" y="398942"/>
          <a:ext cx="8724900" cy="4756751"/>
        </p:xfrm>
        <a:graphic>
          <a:graphicData uri="http://schemas.openxmlformats.org/drawingml/2006/table">
            <a:tbl>
              <a:tblPr/>
              <a:tblGrid>
                <a:gridCol w="1612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1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82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Proposal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Problem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Claims today are slow, fragmented across channels, document-heavy, and prone to fraud; AI rules (CO SB21-169, NAIC, NY DFS C7) penalize black-box decisions.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Solution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Agentic AI system for end-to-end claim processing — multi-channel intake, policy validation, missing-information retrieval, document understanding, adjudication, human-in-the-loop, and CSR support on Power Platform + Azure AI.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Value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Faster settlement cycles · reduced manual effort · improved accuracy &amp; fraud detection · enhanced customer satisfaction; every decision logged plain-English to Dataverse.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Roadmap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All 11 Personal Auto loss types · WhatsApp + Fitbit (PIP) · Property + Specialty · ML fraud · Voice/IVR via Dynamics 365.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 statement or business challenge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proposed solution approach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users or beneficiaries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business or technical value (productivity, cost, insights, speed, quality)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world application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extensibility (post-hack roadmap)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27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Technology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Touched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 / Data / App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(Intake + Explanation) · Azure OpenAI GPT-4.1 (adjudication, vision, sentiment) · Document Intelligence · Azure AI Search (RAG) · Dataverse (8 tables) · Power Automate · Power BI Embedded.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Channels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Microsoft Teams (Adaptive Cards) · Outlook · Azure Communication Services (SMS) · Bot Framework Direct Line.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Front-end, Infra &amp; DevOps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Power Apps (canvas + model-driven) — Microsoft-native default; or React SPA on Azure Static Web Apps. Blob Storage · Key Vault · Entra ID (SSO + RBAC) · Power Platform Pipelines · GitHub Actions · Application Insights · DLP.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key technologies, platforms, and services involved in the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(where applicable):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platforms (e.g., Azure services)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/ Data / App services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tools, APIs, or frameworks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 / Security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7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Market &amp; cost: ~$310B/yr US Personal Auto premium · 50%+ Tier-1 auto-approval halves handler load; Lemonade proven sub-3-sec settlement.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Metrics: &lt;2 min Tier-1 decision · &lt;90 sec FNOL · 5 channels · all 11 loss types · 7 fraud checks · 100% audit-logged.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Security &amp; compliance: Entra ID SSO + RBAC · Key Vault · DLP; Decision_Rationale satisfies CO SB21-169, NAIC, NY DFS C7, CA AB 2930.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Market relevance/appetite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Cost benefits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Performance metrics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176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" y="18289"/>
            <a:ext cx="8412480" cy="315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" y="377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C7492E99-FFC4-4BBA-B5B7-AD1A15367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357691"/>
              </p:ext>
            </p:extLst>
          </p:nvPr>
        </p:nvGraphicFramePr>
        <p:xfrm>
          <a:off x="137160" y="421643"/>
          <a:ext cx="6273800" cy="4636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02332326"/>
                    </a:ext>
                  </a:extLst>
                </a:gridCol>
                <a:gridCol w="4495800">
                  <a:extLst>
                    <a:ext uri="{9D8B030D-6E8A-4147-A177-3AD203B41FA5}">
                      <a16:colId xmlns:a16="http://schemas.microsoft.com/office/drawing/2014/main" val="3484333438"/>
                    </a:ext>
                  </a:extLst>
                </a:gridCol>
              </a:tblGrid>
              <a:tr h="32999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383331"/>
                  </a:ext>
                </a:extLst>
              </a:tr>
              <a:tr h="133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Architecture Overview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Stack: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4-layer architecture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Microsoft Power Platform + Azure 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 Channels (Mobile, Web, Teams, Email)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(canvas + model-driven) or React SPA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Static Web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Orchestration: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Single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Orchestrator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coordinates 4 specialists — Intake, Document, Policy &amp; Adjudication, CSR / HITL. Every step writes to an immutable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Decision_Rationale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log.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Happy Path Tier-1: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Multi-channel intake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Intake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creates claim → parallel Document understanding + Policy validation → Adjudication → auto-approve or escalate to adjuster in Teams → customer notified → Power BI live.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484802"/>
                  </a:ext>
                </a:extLst>
              </a:tr>
              <a:tr h="149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Core Components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Conversational &amp; Orchestration: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(intake topics + CSR support)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flows for orchestration, notifications, audit logging.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OpenAI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(GPT-4o for adjudication/vision, small models for triage)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Document Intelligence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forms/IDs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Search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RAG over policies &amp; SOPs.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(claims, policies, decisions, audit)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Blob Storage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documents and photos.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Integrations &amp; UX: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MCP tools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custom connectors for SoR (Guidewire/Duck Creek), fraud / enrichment, identity, e-sign.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Customer + Adjuster UIs;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Teams Adaptive Cards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HITL;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 Embedded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7742708"/>
                  </a:ext>
                </a:extLst>
              </a:tr>
              <a:tr h="1330000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Security &amp; Compliance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Identity &amp; secrets: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Entra ID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SSO + RBAC (handler / supervisor / admin);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Key Vault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all credentials; environment-scoped connection refs.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 &amp; PII: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Encryption at rest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TLS 1.2+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in transit · row/table-level RBAC · PII detection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Language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, masking + tokenization, no PII in prompts; data stays in tenant, region-pinned.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Governance, ALM &amp; audit: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Platform DLP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classifies connectors;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Pipelines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(Dev→Test→Prod)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GitHub Actions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; observability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Application Insights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 Audit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(append-only).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Explainability: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Every agent decision logs inputs, model version, rationale and confidence — audit trail for dispute resolution and emerging AI regulations.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60416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2B24F53-2001-79BB-9511-39472BB26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776" y="471173"/>
            <a:ext cx="2540064" cy="446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636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7BA9B84-F734-96CC-4B90-4D7A566A31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8800" y="63500"/>
            <a:ext cx="2873774" cy="501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100062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" y="36576"/>
            <a:ext cx="9006840" cy="18288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l"/>
            <a:r>
              <a:rPr sz="1200" b="1" i="0">
                <a:solidFill>
                  <a:srgbClr val="0A2540"/>
                </a:solidFill>
              </a:rPr>
              <a:t>Logical Architecture (C4 L2)  —  swimlanes + numbered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" y="201168"/>
            <a:ext cx="9006840" cy="12801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l"/>
            <a:r>
              <a:rPr sz="600" b="0" i="1">
                <a:solidFill>
                  <a:srgbClr val="5A6680"/>
                </a:solidFill>
              </a:rPr>
              <a:t>Numbers 1-13 trace runtime flow  ·  read with the commentary panel on the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57784" y="365760"/>
            <a:ext cx="6601968" cy="475488"/>
          </a:xfrm>
          <a:prstGeom prst="rect">
            <a:avLst/>
          </a:prstGeom>
          <a:solidFill>
            <a:srgbClr val="FFF7ED"/>
          </a:solidFill>
          <a:ln w="508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" y="365760"/>
            <a:ext cx="502920" cy="475488"/>
          </a:xfrm>
          <a:prstGeom prst="roundRect">
            <a:avLst/>
          </a:prstGeom>
          <a:solidFill>
            <a:srgbClr val="EA580C"/>
          </a:solidFill>
          <a:ln w="50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" y="365760"/>
            <a:ext cx="502920" cy="47548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CUSTOMER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&amp; CHANNELS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" y="859536"/>
            <a:ext cx="6601968" cy="475488"/>
          </a:xfrm>
          <a:prstGeom prst="rect">
            <a:avLst/>
          </a:prstGeom>
          <a:solidFill>
            <a:srgbClr val="EFF6FF"/>
          </a:solidFill>
          <a:ln w="508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" y="859536"/>
            <a:ext cx="502920" cy="475488"/>
          </a:xfrm>
          <a:prstGeom prst="roundRect">
            <a:avLst/>
          </a:prstGeom>
          <a:solidFill>
            <a:srgbClr val="0078D4"/>
          </a:solidFill>
          <a:ln w="50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" y="859536"/>
            <a:ext cx="502920" cy="47548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FRONTEND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(SWA)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784" y="1353312"/>
            <a:ext cx="6601968" cy="566928"/>
          </a:xfrm>
          <a:prstGeom prst="rect">
            <a:avLst/>
          </a:prstGeom>
          <a:solidFill>
            <a:srgbClr val="FAF5FF"/>
          </a:solidFill>
          <a:ln w="5080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" y="1353312"/>
            <a:ext cx="502920" cy="566928"/>
          </a:xfrm>
          <a:prstGeom prst="roundRect">
            <a:avLst/>
          </a:prstGeom>
          <a:solidFill>
            <a:srgbClr val="742774"/>
          </a:solidFill>
          <a:ln w="508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" y="1353312"/>
            <a:ext cx="502920" cy="56692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COPILOT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STUDIO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" y="1938528"/>
            <a:ext cx="6601968" cy="566928"/>
          </a:xfrm>
          <a:prstGeom prst="rect">
            <a:avLst/>
          </a:prstGeom>
          <a:solidFill>
            <a:srgbClr val="FAF5FF"/>
          </a:solidFill>
          <a:ln w="5080">
            <a:solidFill>
              <a:srgbClr val="E9D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" y="1938528"/>
            <a:ext cx="502920" cy="566928"/>
          </a:xfrm>
          <a:prstGeom prst="roundRect">
            <a:avLst/>
          </a:prstGeom>
          <a:solidFill>
            <a:srgbClr val="742774"/>
          </a:solidFill>
          <a:ln w="508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" y="1938528"/>
            <a:ext cx="502920" cy="56692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POWER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AUTOMATE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7784" y="2523744"/>
            <a:ext cx="6601968" cy="841248"/>
          </a:xfrm>
          <a:prstGeom prst="rect">
            <a:avLst/>
          </a:prstGeom>
          <a:solidFill>
            <a:srgbClr val="EFF6FF"/>
          </a:solidFill>
          <a:ln w="508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" y="2523744"/>
            <a:ext cx="502920" cy="841248"/>
          </a:xfrm>
          <a:prstGeom prst="roundRect">
            <a:avLst/>
          </a:prstGeom>
          <a:solidFill>
            <a:srgbClr val="0078D4"/>
          </a:solidFill>
          <a:ln w="50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" y="2523744"/>
            <a:ext cx="502920" cy="84124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AZURE AI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7784" y="3383280"/>
            <a:ext cx="6601968" cy="475488"/>
          </a:xfrm>
          <a:prstGeom prst="rect">
            <a:avLst/>
          </a:prstGeom>
          <a:solidFill>
            <a:srgbClr val="F0FDF4"/>
          </a:solidFill>
          <a:ln w="508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" y="3383280"/>
            <a:ext cx="502920" cy="475488"/>
          </a:xfrm>
          <a:prstGeom prst="roundRect">
            <a:avLst/>
          </a:prstGeom>
          <a:solidFill>
            <a:srgbClr val="107C10"/>
          </a:solidFill>
          <a:ln w="508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" y="3383280"/>
            <a:ext cx="502920" cy="475488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M365 TEAMS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(Human)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7784" y="3877056"/>
            <a:ext cx="6601968" cy="1097280"/>
          </a:xfrm>
          <a:prstGeom prst="rect">
            <a:avLst/>
          </a:prstGeom>
          <a:solidFill>
            <a:srgbClr val="FEF3C7"/>
          </a:solidFill>
          <a:ln w="508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576" y="3877056"/>
            <a:ext cx="502920" cy="1097280"/>
          </a:xfrm>
          <a:prstGeom prst="roundRect">
            <a:avLst/>
          </a:prstGeom>
          <a:solidFill>
            <a:srgbClr val="D99416"/>
          </a:solidFill>
          <a:ln w="508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" y="3877056"/>
            <a:ext cx="502920" cy="109728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DATAVERSE</a:t>
            </a:r>
          </a:p>
          <a:p>
            <a:pPr algn="ctr"/>
            <a:r>
              <a:rPr sz="600" b="1" i="0">
                <a:solidFill>
                  <a:srgbClr val="FFFFFF"/>
                </a:solidFill>
              </a:rPr>
              <a:t>Glass Box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02336"/>
            <a:ext cx="1280160" cy="384048"/>
          </a:xfrm>
          <a:prstGeom prst="roundRect">
            <a:avLst/>
          </a:prstGeom>
          <a:solidFill>
            <a:srgbClr val="EA580C"/>
          </a:solidFill>
          <a:ln w="6350">
            <a:solidFill>
              <a:srgbClr val="9A3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02336"/>
            <a:ext cx="1280160" cy="384048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  <a:p>
            <a:pPr algn="ctr"/>
            <a:r>
              <a:rPr sz="600" b="1">
                <a:solidFill>
                  <a:srgbClr val="FFFFFF"/>
                </a:solidFill>
              </a:rPr>
              <a:t>Customer + 5 channels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896112"/>
            <a:ext cx="1280160" cy="384048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896112"/>
            <a:ext cx="1280160" cy="384048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0A2540"/>
                </a:solidFill>
              </a:rPr>
              <a:t>2</a:t>
            </a:r>
          </a:p>
          <a:p>
            <a:pPr algn="ctr"/>
            <a:r>
              <a:rPr sz="600" b="1">
                <a:solidFill>
                  <a:srgbClr val="0A2540"/>
                </a:solidFill>
              </a:rPr>
              <a:t>React SPA + Token Broker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31720" y="896112"/>
            <a:ext cx="1188720" cy="384048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20" y="896112"/>
            <a:ext cx="1188720" cy="384048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0A2540"/>
                </a:solidFill>
              </a:rPr>
              <a:t>3</a:t>
            </a:r>
          </a:p>
          <a:p>
            <a:pPr algn="ctr"/>
            <a:r>
              <a:rPr sz="600" b="1">
                <a:solidFill>
                  <a:srgbClr val="0A2540"/>
                </a:solidFill>
              </a:rPr>
              <a:t>Direct Line / Bot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31720" y="1417320"/>
            <a:ext cx="1188720" cy="438912"/>
          </a:xfrm>
          <a:prstGeom prst="roundRect">
            <a:avLst/>
          </a:prstGeom>
          <a:solidFill>
            <a:srgbClr val="EDE4F5"/>
          </a:solidFill>
          <a:ln w="952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31720" y="1417320"/>
            <a:ext cx="1188720" cy="438912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3D2C70"/>
                </a:solidFill>
              </a:rPr>
              <a:t>4</a:t>
            </a:r>
          </a:p>
          <a:p>
            <a:pPr algn="ctr"/>
            <a:r>
              <a:rPr sz="600" b="1">
                <a:solidFill>
                  <a:srgbClr val="3D2C70"/>
                </a:solidFill>
              </a:rPr>
              <a:t>Intake Agent (AI)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0" y="1417320"/>
            <a:ext cx="1417320" cy="438912"/>
          </a:xfrm>
          <a:prstGeom prst="roundRect">
            <a:avLst/>
          </a:prstGeom>
          <a:solidFill>
            <a:srgbClr val="EDE4F5"/>
          </a:solidFill>
          <a:ln w="952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0" y="1417320"/>
            <a:ext cx="1417320" cy="438912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3D2C70"/>
                </a:solidFill>
              </a:rPr>
              <a:t>12</a:t>
            </a:r>
          </a:p>
          <a:p>
            <a:pPr algn="ctr"/>
            <a:r>
              <a:rPr sz="600" b="1">
                <a:solidFill>
                  <a:srgbClr val="3D2C70"/>
                </a:solidFill>
              </a:rPr>
              <a:t>Explanation Agent (AI — NOT CSR)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31720" y="2011680"/>
            <a:ext cx="960120" cy="438912"/>
          </a:xfrm>
          <a:prstGeom prst="roundRect">
            <a:avLst/>
          </a:prstGeom>
          <a:solidFill>
            <a:srgbClr val="EDE4F5"/>
          </a:solidFill>
          <a:ln w="635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31720" y="2011680"/>
            <a:ext cx="960120" cy="438912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3D2C70"/>
                </a:solidFill>
              </a:rPr>
              <a:t>5</a:t>
            </a:r>
          </a:p>
          <a:p>
            <a:pPr algn="ctr"/>
            <a:r>
              <a:rPr sz="600" b="1">
                <a:solidFill>
                  <a:srgbClr val="3D2C70"/>
                </a:solidFill>
              </a:rPr>
              <a:t>Create_Claim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29000" y="2011680"/>
            <a:ext cx="1143000" cy="438912"/>
          </a:xfrm>
          <a:prstGeom prst="roundRect">
            <a:avLst/>
          </a:prstGeom>
          <a:solidFill>
            <a:srgbClr val="EDE4F5"/>
          </a:solidFill>
          <a:ln w="952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29000" y="2011680"/>
            <a:ext cx="1143000" cy="438912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3D2C70"/>
                </a:solidFill>
              </a:rPr>
              <a:t>6</a:t>
            </a:r>
          </a:p>
          <a:p>
            <a:pPr algn="ctr"/>
            <a:r>
              <a:rPr sz="600" b="1">
                <a:solidFill>
                  <a:srgbClr val="3D2C70"/>
                </a:solidFill>
              </a:rPr>
              <a:t>Master Orchestration</a:t>
            </a:r>
          </a:p>
        </p:txBody>
      </p:sp>
      <p:sp>
        <p:nvSpPr>
          <p:cNvPr id="39" name="Diamond 38"/>
          <p:cNvSpPr/>
          <p:nvPr/>
        </p:nvSpPr>
        <p:spPr>
          <a:xfrm>
            <a:off x="4709160" y="2011680"/>
            <a:ext cx="777240" cy="43891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09160" y="2029968"/>
            <a:ext cx="777240" cy="40233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700" b="1" i="0">
                <a:solidFill>
                  <a:srgbClr val="0E3A0E"/>
                </a:solidFill>
              </a:rPr>
              <a:t>11</a:t>
            </a:r>
          </a:p>
          <a:p>
            <a:pPr algn="ctr"/>
            <a:r>
              <a:rPr sz="700" b="1" i="0">
                <a:solidFill>
                  <a:srgbClr val="0E3A0E"/>
                </a:solidFill>
              </a:rPr>
              <a:t>Router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0" y="2011680"/>
            <a:ext cx="1417320" cy="438912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0" y="2011680"/>
            <a:ext cx="1417320" cy="438912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0E3A0E"/>
                </a:solidFill>
              </a:rPr>
              <a:t>13</a:t>
            </a:r>
          </a:p>
          <a:p>
            <a:pPr algn="ctr"/>
            <a:r>
              <a:rPr sz="600" b="1">
                <a:solidFill>
                  <a:srgbClr val="0E3A0E"/>
                </a:solidFill>
              </a:rPr>
              <a:t>Notify_Customer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31720" y="2578608"/>
            <a:ext cx="1600200" cy="219456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1720" y="2578608"/>
            <a:ext cx="160020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700" b="1" i="0">
                <a:solidFill>
                  <a:srgbClr val="0A2540"/>
                </a:solidFill>
              </a:rPr>
              <a:t>7  Extraction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31720" y="2816352"/>
            <a:ext cx="1600200" cy="219456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31720" y="2816352"/>
            <a:ext cx="160020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700" b="1" i="0">
                <a:solidFill>
                  <a:srgbClr val="0A2540"/>
                </a:solidFill>
              </a:rPr>
              <a:t>8  Policy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331720" y="3054096"/>
            <a:ext cx="1600200" cy="219456"/>
          </a:xfrm>
          <a:prstGeom prst="roundRect">
            <a:avLst/>
          </a:prstGeom>
          <a:solidFill>
            <a:srgbClr val="DBEAFE"/>
          </a:solidFill>
          <a:ln w="63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31720" y="3054096"/>
            <a:ext cx="160020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0A2540"/>
                </a:solidFill>
              </a:rPr>
              <a:t>9  Validation · 7 ext checks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0" y="2743200"/>
            <a:ext cx="1371600" cy="502920"/>
          </a:xfrm>
          <a:prstGeom prst="roundRect">
            <a:avLst/>
          </a:prstGeom>
          <a:solidFill>
            <a:srgbClr val="0A2540"/>
          </a:solidFill>
          <a:ln w="12700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0" y="2743200"/>
            <a:ext cx="1371600" cy="5029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10</a:t>
            </a:r>
          </a:p>
          <a:p>
            <a:pPr algn="ctr"/>
            <a:r>
              <a:rPr sz="600" b="1">
                <a:solidFill>
                  <a:srgbClr val="FFFFFF"/>
                </a:solidFill>
              </a:rPr>
              <a:t>Adjudication · GPT-4.1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0" y="3438144"/>
            <a:ext cx="1371600" cy="182880"/>
          </a:xfrm>
          <a:prstGeom prst="roundRect">
            <a:avLst/>
          </a:prstGeom>
          <a:solidFill>
            <a:srgbClr val="FEF3C7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0" y="3438144"/>
            <a:ext cx="1371600" cy="18288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92400E"/>
                </a:solidFill>
              </a:rPr>
              <a:t>T2 · Adjuster Teams Card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669280" y="3438144"/>
            <a:ext cx="1417320" cy="182880"/>
          </a:xfrm>
          <a:prstGeom prst="roundRect">
            <a:avLst/>
          </a:prstGeom>
          <a:solidFill>
            <a:srgbClr val="FEE2E2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0" y="3438144"/>
            <a:ext cx="1417320" cy="18288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600" b="1" i="0">
                <a:solidFill>
                  <a:srgbClr val="7F1D1D"/>
                </a:solidFill>
              </a:rPr>
              <a:t>T3 · Live CSR Teams Chat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" y="3456432"/>
            <a:ext cx="3474720" cy="146304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l"/>
            <a:r>
              <a:rPr sz="600" b="0" i="1">
                <a:solidFill>
                  <a:srgbClr val="5A6680"/>
                </a:solidFill>
              </a:rPr>
              <a:t>Tier 1 = AI auto-approve, no human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0080" y="3950208"/>
            <a:ext cx="59436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3950208"/>
            <a:ext cx="59436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Policy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280160" y="3950208"/>
            <a:ext cx="59436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80160" y="3950208"/>
            <a:ext cx="59436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Claim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20240" y="3950208"/>
            <a:ext cx="73152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20240" y="3950208"/>
            <a:ext cx="73152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Document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697480" y="3950208"/>
            <a:ext cx="96012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697480" y="3950208"/>
            <a:ext cx="96012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Communication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03320" y="3950208"/>
            <a:ext cx="59436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03320" y="3950208"/>
            <a:ext cx="59436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Adjuster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343400" y="3950208"/>
            <a:ext cx="59436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43400" y="3950208"/>
            <a:ext cx="59436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Vendor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83480" y="3950208"/>
            <a:ext cx="1280160" cy="219456"/>
          </a:xfrm>
          <a:prstGeom prst="roundRect">
            <a:avLst/>
          </a:prstGeom>
          <a:solidFill>
            <a:srgbClr val="742774"/>
          </a:solidFill>
          <a:ln w="3810">
            <a:solidFill>
              <a:srgbClr val="3D2C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983480" y="3950208"/>
            <a:ext cx="128016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500" b="1" i="0">
                <a:solidFill>
                  <a:srgbClr val="FFFFFF"/>
                </a:solidFill>
              </a:rPr>
              <a:t>ClaimVendorAssgmt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94360" y="4224528"/>
            <a:ext cx="6537960" cy="365760"/>
          </a:xfrm>
          <a:prstGeom prst="roundRect">
            <a:avLst/>
          </a:prstGeom>
          <a:solidFill>
            <a:srgbClr val="F5B73A"/>
          </a:solidFill>
          <a:ln w="1905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4360" y="4224528"/>
            <a:ext cx="6537960" cy="36576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700" b="1" i="0">
                <a:solidFill>
                  <a:srgbClr val="0A2540"/>
                </a:solidFill>
              </a:rPr>
              <a:t>🛡  Decision_Rationale  ·  THE GLASS BOX  ·  every AI step writes 1 row  ·  4 · 7 · 8 · 9 · 10 · 12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1417319" y="786384"/>
            <a:ext cx="0" cy="109728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057400" y="1088136"/>
            <a:ext cx="274320" cy="0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2926079" y="1280160"/>
            <a:ext cx="0" cy="137160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2926079" y="1856232"/>
            <a:ext cx="0" cy="155448"/>
          </a:xfrm>
          <a:prstGeom prst="line">
            <a:avLst/>
          </a:prstGeom>
          <a:ln w="1778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2811779" y="2011680"/>
            <a:ext cx="114300" cy="0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3291839" y="2231136"/>
            <a:ext cx="137161" cy="0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4000500" y="2450592"/>
            <a:ext cx="0" cy="237744"/>
          </a:xfrm>
          <a:prstGeom prst="line">
            <a:avLst/>
          </a:prstGeom>
          <a:ln w="127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2331720" y="2688336"/>
            <a:ext cx="1668780" cy="0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3817620" y="2450592"/>
            <a:ext cx="0" cy="475488"/>
          </a:xfrm>
          <a:prstGeom prst="line">
            <a:avLst/>
          </a:prstGeom>
          <a:ln w="127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H="1">
            <a:off x="2331720" y="2926080"/>
            <a:ext cx="1485900" cy="0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634740" y="2450592"/>
            <a:ext cx="0" cy="713232"/>
          </a:xfrm>
          <a:prstGeom prst="line">
            <a:avLst/>
          </a:prstGeom>
          <a:ln w="127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H="1">
            <a:off x="2331720" y="3163824"/>
            <a:ext cx="1303020" cy="0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3931920" y="2688336"/>
            <a:ext cx="182880" cy="0"/>
          </a:xfrm>
          <a:prstGeom prst="line">
            <a:avLst/>
          </a:prstGeom>
          <a:ln w="127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114800" y="2688336"/>
            <a:ext cx="0" cy="169164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3931920" y="2926080"/>
            <a:ext cx="182880" cy="0"/>
          </a:xfrm>
          <a:prstGeom prst="line">
            <a:avLst/>
          </a:prstGeom>
          <a:ln w="127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114800" y="2926080"/>
            <a:ext cx="0" cy="68580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3931920" y="3163824"/>
            <a:ext cx="182880" cy="0"/>
          </a:xfrm>
          <a:prstGeom prst="line">
            <a:avLst/>
          </a:prstGeom>
          <a:ln w="1270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 flipV="1">
            <a:off x="4114800" y="3131820"/>
            <a:ext cx="0" cy="32004"/>
          </a:xfrm>
          <a:prstGeom prst="line">
            <a:avLst/>
          </a:prstGeom>
          <a:ln w="1270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800600" y="2450592"/>
            <a:ext cx="0" cy="292608"/>
          </a:xfrm>
          <a:prstGeom prst="line">
            <a:avLst/>
          </a:prstGeom>
          <a:ln w="1778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4800600" y="2450592"/>
            <a:ext cx="297180" cy="0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5097780" y="2450592"/>
            <a:ext cx="0" cy="987552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H="1">
            <a:off x="4800600" y="3438144"/>
            <a:ext cx="297180" cy="0"/>
          </a:xfrm>
          <a:prstGeom prst="line">
            <a:avLst/>
          </a:prstGeom>
          <a:ln w="12700">
            <a:solidFill>
              <a:srgbClr val="0F172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5486400" y="2231136"/>
            <a:ext cx="0" cy="1207008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5486400" y="3438144"/>
            <a:ext cx="891540" cy="0"/>
          </a:xfrm>
          <a:prstGeom prst="line">
            <a:avLst/>
          </a:prstGeom>
          <a:ln w="12700">
            <a:solidFill>
              <a:srgbClr val="0F172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 flipV="1">
            <a:off x="5097780" y="1856232"/>
            <a:ext cx="0" cy="155448"/>
          </a:xfrm>
          <a:prstGeom prst="line">
            <a:avLst/>
          </a:prstGeom>
          <a:ln w="1778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5097780" y="1856232"/>
            <a:ext cx="1280160" cy="0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6377940" y="1856232"/>
            <a:ext cx="0" cy="155448"/>
          </a:xfrm>
          <a:prstGeom prst="line">
            <a:avLst/>
          </a:prstGeom>
          <a:ln w="17780">
            <a:solidFill>
              <a:srgbClr val="DC26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7086600" y="2231136"/>
            <a:ext cx="182880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V="1">
            <a:off x="7269480" y="182880"/>
            <a:ext cx="0" cy="2048256"/>
          </a:xfrm>
          <a:prstGeom prst="line">
            <a:avLst/>
          </a:prstGeom>
          <a:ln w="12700">
            <a:solidFill>
              <a:srgbClr val="DC2626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1417319" y="182880"/>
            <a:ext cx="585216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417319" y="182880"/>
            <a:ext cx="0" cy="219456"/>
          </a:xfrm>
          <a:prstGeom prst="line">
            <a:avLst/>
          </a:prstGeom>
          <a:ln w="12700">
            <a:solidFill>
              <a:srgbClr val="DC2626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2148839" y="1636776"/>
            <a:ext cx="182881" cy="0"/>
          </a:xfrm>
          <a:prstGeom prst="line">
            <a:avLst/>
          </a:prstGeom>
          <a:ln w="9525">
            <a:solidFill>
              <a:srgbClr val="D99416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148839" y="1636776"/>
            <a:ext cx="0" cy="2587752"/>
          </a:xfrm>
          <a:prstGeom prst="line">
            <a:avLst/>
          </a:prstGeom>
          <a:ln w="9525">
            <a:solidFill>
              <a:srgbClr val="D99416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800600" y="3246120"/>
            <a:ext cx="0" cy="978408"/>
          </a:xfrm>
          <a:prstGeom prst="line">
            <a:avLst/>
          </a:prstGeom>
          <a:ln w="9525">
            <a:solidFill>
              <a:srgbClr val="D99416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6377940" y="1856232"/>
            <a:ext cx="0" cy="1892807"/>
          </a:xfrm>
          <a:prstGeom prst="line">
            <a:avLst/>
          </a:prstGeom>
          <a:ln w="9525">
            <a:solidFill>
              <a:srgbClr val="D99416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6377940" y="3749039"/>
            <a:ext cx="388620" cy="0"/>
          </a:xfrm>
          <a:prstGeom prst="line">
            <a:avLst/>
          </a:prstGeom>
          <a:ln w="9525">
            <a:solidFill>
              <a:srgbClr val="D99416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6766560" y="3749039"/>
            <a:ext cx="0" cy="475489"/>
          </a:xfrm>
          <a:prstGeom prst="line">
            <a:avLst/>
          </a:prstGeom>
          <a:ln w="9525">
            <a:solidFill>
              <a:srgbClr val="D99416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7315200" y="365760"/>
            <a:ext cx="178308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7315200" y="365760"/>
            <a:ext cx="1783080" cy="219456"/>
          </a:xfrm>
          <a:prstGeom prst="roundRect">
            <a:avLst/>
          </a:prstGeom>
          <a:solidFill>
            <a:srgbClr val="0A2540"/>
          </a:solidFill>
          <a:ln w="6350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315200" y="365760"/>
            <a:ext cx="1783080" cy="219456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FLOW LEGEND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7360920" y="612648"/>
            <a:ext cx="1691639" cy="274320"/>
          </a:xfrm>
          <a:prstGeom prst="roundRect">
            <a:avLst/>
          </a:prstGeom>
          <a:solidFill>
            <a:srgbClr val="FFF7ED"/>
          </a:solidFill>
          <a:ln w="3810">
            <a:solidFill>
              <a:srgbClr val="9A3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379208" y="612648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9A3412"/>
                </a:solidFill>
              </a:rPr>
              <a:t>1  </a:t>
            </a:r>
            <a:r>
              <a:rPr sz="500" b="1">
                <a:solidFill>
                  <a:srgbClr val="0F172A"/>
                </a:solidFill>
              </a:rPr>
              <a:t>CUSTOMER FNOL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Mobile · Web · Teams · SMS · Email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360920" y="905256"/>
            <a:ext cx="1691639" cy="274320"/>
          </a:xfrm>
          <a:prstGeom prst="roundRect">
            <a:avLst/>
          </a:prstGeom>
          <a:solidFill>
            <a:srgbClr val="EFF6FF"/>
          </a:solidFill>
          <a:ln w="381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379208" y="905256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0078D4"/>
                </a:solidFill>
              </a:rPr>
              <a:t>2  </a:t>
            </a:r>
            <a:r>
              <a:rPr sz="500" b="1">
                <a:solidFill>
                  <a:srgbClr val="0F172A"/>
                </a:solidFill>
              </a:rPr>
              <a:t>REACT SPA + TOKEN BROKER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Static Web Apps · token mint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360920" y="1197864"/>
            <a:ext cx="1691639" cy="274320"/>
          </a:xfrm>
          <a:prstGeom prst="roundRect">
            <a:avLst/>
          </a:prstGeom>
          <a:solidFill>
            <a:srgbClr val="EFF6FF"/>
          </a:solidFill>
          <a:ln w="381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379208" y="1197864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0078D4"/>
                </a:solidFill>
              </a:rPr>
              <a:t>3  </a:t>
            </a:r>
            <a:r>
              <a:rPr sz="500" b="1">
                <a:solidFill>
                  <a:srgbClr val="0F172A"/>
                </a:solidFill>
              </a:rPr>
              <a:t>DIRECT LINE BRIDGE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Bot Service ↔ Copilot Studio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360920" y="1490472"/>
            <a:ext cx="1691639" cy="274320"/>
          </a:xfrm>
          <a:prstGeom prst="roundRect">
            <a:avLst/>
          </a:prstGeom>
          <a:solidFill>
            <a:srgbClr val="FAF5FF"/>
          </a:solidFill>
          <a:ln w="381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379208" y="1490472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742774"/>
                </a:solidFill>
              </a:rPr>
              <a:t>4  </a:t>
            </a:r>
            <a:r>
              <a:rPr sz="500" b="1">
                <a:solidFill>
                  <a:srgbClr val="0F172A"/>
                </a:solidFill>
              </a:rPr>
              <a:t>INTAKE AGENT (AI)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11 loss topics · sub-flows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360920" y="1783080"/>
            <a:ext cx="1691639" cy="274320"/>
          </a:xfrm>
          <a:prstGeom prst="roundRect">
            <a:avLst/>
          </a:prstGeom>
          <a:solidFill>
            <a:srgbClr val="FAF5FF"/>
          </a:solidFill>
          <a:ln w="381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379208" y="1783080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742774"/>
                </a:solidFill>
              </a:rPr>
              <a:t>5  </a:t>
            </a:r>
            <a:r>
              <a:rPr sz="500" b="1">
                <a:solidFill>
                  <a:srgbClr val="0F172A"/>
                </a:solidFill>
              </a:rPr>
              <a:t>CREATE_CLAIM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Inserts Claim + Document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360920" y="2075688"/>
            <a:ext cx="1691639" cy="274320"/>
          </a:xfrm>
          <a:prstGeom prst="roundRect">
            <a:avLst/>
          </a:prstGeom>
          <a:solidFill>
            <a:srgbClr val="FAF5FF"/>
          </a:solidFill>
          <a:ln w="381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379208" y="2075688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742774"/>
                </a:solidFill>
              </a:rPr>
              <a:t>6  </a:t>
            </a:r>
            <a:r>
              <a:rPr sz="500" b="1">
                <a:solidFill>
                  <a:srgbClr val="0F172A"/>
                </a:solidFill>
              </a:rPr>
              <a:t>MASTER ORCHESTRATION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Trigger on Claim · fan-out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360920" y="2368296"/>
            <a:ext cx="1691639" cy="274320"/>
          </a:xfrm>
          <a:prstGeom prst="roundRect">
            <a:avLst/>
          </a:prstGeom>
          <a:solidFill>
            <a:srgbClr val="EFF6FF"/>
          </a:solidFill>
          <a:ln w="381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7379208" y="2368296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0078D4"/>
                </a:solidFill>
              </a:rPr>
              <a:t>7  </a:t>
            </a:r>
            <a:r>
              <a:rPr sz="500" b="1">
                <a:solidFill>
                  <a:srgbClr val="0F172A"/>
                </a:solidFill>
              </a:rPr>
              <a:t>EXTRACTION AGENT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Doc Intel + GPT-4o Vision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7360920" y="2660903"/>
            <a:ext cx="1691639" cy="274320"/>
          </a:xfrm>
          <a:prstGeom prst="roundRect">
            <a:avLst/>
          </a:prstGeom>
          <a:solidFill>
            <a:srgbClr val="EFF6FF"/>
          </a:solidFill>
          <a:ln w="381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379208" y="2660903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0078D4"/>
                </a:solidFill>
              </a:rPr>
              <a:t>8  </a:t>
            </a:r>
            <a:r>
              <a:rPr sz="500" b="1">
                <a:solidFill>
                  <a:srgbClr val="0F172A"/>
                </a:solidFill>
              </a:rPr>
              <a:t>POLICY AGENT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AI Search vector RAG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360920" y="2953511"/>
            <a:ext cx="1691639" cy="274320"/>
          </a:xfrm>
          <a:prstGeom prst="roundRect">
            <a:avLst/>
          </a:prstGeom>
          <a:solidFill>
            <a:srgbClr val="EFF6FF"/>
          </a:solidFill>
          <a:ln w="381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379208" y="2953511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0078D4"/>
                </a:solidFill>
              </a:rPr>
              <a:t>9  </a:t>
            </a:r>
            <a:r>
              <a:rPr sz="500" b="1">
                <a:solidFill>
                  <a:srgbClr val="0F172A"/>
                </a:solidFill>
              </a:rPr>
              <a:t>VALIDATION AGENT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7 ext checks parallel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360920" y="3246119"/>
            <a:ext cx="1691639" cy="274320"/>
          </a:xfrm>
          <a:prstGeom prst="roundRect">
            <a:avLst/>
          </a:prstGeom>
          <a:solidFill>
            <a:srgbClr val="EFF6FF"/>
          </a:solidFill>
          <a:ln w="381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379208" y="3246119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0078D4"/>
                </a:solidFill>
              </a:rPr>
              <a:t>10  </a:t>
            </a:r>
            <a:r>
              <a:rPr sz="500" b="1">
                <a:solidFill>
                  <a:srgbClr val="0F172A"/>
                </a:solidFill>
              </a:rPr>
              <a:t>ADJUDICATION (GPT-4.1)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Decides + assigns tier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360920" y="3538727"/>
            <a:ext cx="1691639" cy="274320"/>
          </a:xfrm>
          <a:prstGeom prst="roundRect">
            <a:avLst/>
          </a:prstGeom>
          <a:solidFill>
            <a:srgbClr val="F0FDF4"/>
          </a:solidFill>
          <a:ln w="381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379208" y="3538727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107C10"/>
                </a:solidFill>
              </a:rPr>
              <a:t>11  </a:t>
            </a:r>
            <a:r>
              <a:rPr sz="500" b="1">
                <a:solidFill>
                  <a:srgbClr val="0F172A"/>
                </a:solidFill>
              </a:rPr>
              <a:t>TIER ROUTER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T1 auto · T2 adj · T3 CSR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7360920" y="3831335"/>
            <a:ext cx="1691639" cy="274320"/>
          </a:xfrm>
          <a:prstGeom prst="roundRect">
            <a:avLst/>
          </a:prstGeom>
          <a:solidFill>
            <a:srgbClr val="FAF5FF"/>
          </a:solidFill>
          <a:ln w="3810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379208" y="3831335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742774"/>
                </a:solidFill>
              </a:rPr>
              <a:t>12  </a:t>
            </a:r>
            <a:r>
              <a:rPr sz="500" b="1">
                <a:solidFill>
                  <a:srgbClr val="0F172A"/>
                </a:solidFill>
              </a:rPr>
              <a:t>EXPLANATION (AI)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Plain-English rationale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360920" y="4123944"/>
            <a:ext cx="1691639" cy="274320"/>
          </a:xfrm>
          <a:prstGeom prst="roundRect">
            <a:avLst/>
          </a:prstGeom>
          <a:solidFill>
            <a:srgbClr val="F0FDF4"/>
          </a:solidFill>
          <a:ln w="381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379208" y="4123944"/>
            <a:ext cx="1655064" cy="274320"/>
          </a:xfrm>
          <a:prstGeom prst="rect">
            <a:avLst/>
          </a:prstGeom>
          <a:noFill/>
        </p:spPr>
        <p:txBody>
          <a:bodyPr wrap="square" lIns="10000" rIns="10000" tIns="8000" bIns="8000" anchor="ctr">
            <a:spAutoFit/>
          </a:bodyPr>
          <a:lstStyle/>
          <a:p>
            <a:pPr algn="l"/>
            <a:r>
              <a:rPr sz="800" b="1">
                <a:solidFill>
                  <a:srgbClr val="107C10"/>
                </a:solidFill>
              </a:rPr>
              <a:t>13  </a:t>
            </a:r>
            <a:r>
              <a:rPr sz="500" b="1">
                <a:solidFill>
                  <a:srgbClr val="0F172A"/>
                </a:solidFill>
              </a:rPr>
              <a:t>NOTIFY_CUSTOMER</a:t>
            </a:r>
          </a:p>
          <a:p>
            <a:pPr algn="l"/>
            <a:r>
              <a:rPr sz="500">
                <a:solidFill>
                  <a:srgbClr val="0F172A"/>
                </a:solidFill>
              </a:rPr>
              <a:t>Reply on original channel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7360920" y="4453128"/>
            <a:ext cx="1691639" cy="3657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79208" y="4453128"/>
            <a:ext cx="1655064" cy="365760"/>
          </a:xfrm>
          <a:prstGeom prst="rect">
            <a:avLst/>
          </a:prstGeom>
          <a:noFill/>
        </p:spPr>
        <p:txBody>
          <a:bodyPr wrap="square" lIns="10000" rIns="10000" tIns="8000" bIns="8000">
            <a:spAutoFit/>
          </a:bodyPr>
          <a:lstStyle/>
          <a:p>
            <a:pPr algn="l"/>
            <a:r>
              <a:rPr sz="700" b="1">
                <a:solidFill>
                  <a:srgbClr val="92400E"/>
                </a:solidFill>
              </a:rPr>
              <a:t>🛡 GLASS BOX</a:t>
            </a:r>
          </a:p>
          <a:p>
            <a:pPr algn="l"/>
            <a:r>
              <a:rPr sz="500">
                <a:solidFill>
                  <a:srgbClr val="92400E"/>
                </a:solidFill>
              </a:rPr>
              <a:t>Every AI step → 1 row in Decision_Rationale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3152" y="4983480"/>
            <a:ext cx="9006840" cy="137160"/>
          </a:xfrm>
          <a:prstGeom prst="rect">
            <a:avLst/>
          </a:prstGeom>
          <a:noFill/>
        </p:spPr>
        <p:txBody>
          <a:bodyPr wrap="square" lIns="15000" rIns="15000" tIns="5000" bIns="5000" anchor="ctr">
            <a:spAutoFit/>
          </a:bodyPr>
          <a:lstStyle/>
          <a:p>
            <a:pPr algn="l"/>
            <a:r>
              <a:rPr sz="600" b="0" i="1">
                <a:solidFill>
                  <a:srgbClr val="5A6680"/>
                </a:solidFill>
              </a:rPr>
              <a:t>ARROWS:  red = runtime flow  ·  red dashed = loop back  ·  black = Tier-2/3 human branches  ·  gold dashed = audit 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" y="45720"/>
            <a:ext cx="87782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A2540"/>
                </a:solidFill>
                <a:latin typeface="Segoe UI"/>
              </a:rPr>
              <a:t>Architecture Flow — top-to-bottom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292608"/>
            <a:ext cx="87782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5A6680"/>
                </a:solidFill>
                <a:latin typeface="Segoe UI"/>
              </a:rPr>
              <a:t>Customer → 5 channels → Copilot Studio → Power Automate → 4 parallel agents → audit → tier routing → notify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502920"/>
            <a:ext cx="10972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900" b="1">
                <a:solidFill>
                  <a:srgbClr val="0A2540"/>
                </a:solidFill>
                <a:latin typeface="Segoe UI"/>
              </a:rPr>
              <a:t>Customer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Mobile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0512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Web 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868680"/>
            <a:ext cx="12801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5B41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5B41A1"/>
                </a:solidFill>
                <a:latin typeface="Segoe UI"/>
              </a:rPr>
              <a:t>Microsoft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SMS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0176" y="868680"/>
            <a:ext cx="128016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107C10"/>
                </a:solidFill>
                <a:latin typeface="Segoe UI"/>
              </a:rPr>
              <a:t>Email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Static Web Apps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742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Function · Token Broker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906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Bot Service · Direct 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0070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Comm Services (SMS)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160020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Intake Agent (FNOL_Start + 11 child topics)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96596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Master Orchestration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Extraction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Doc Intelligence +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Policy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AI Search RAG + AOAI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2331720"/>
            <a:ext cx="1600200" cy="50292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Validation Agent</a:t>
            </a:r>
          </a:p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NOAA + NHTSA + 5 sandbox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Adjudication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OpenAI GPT-4.1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2889504"/>
            <a:ext cx="594360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★ Decision_Rationale audit log — every AI decision in plain English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3255264"/>
            <a:ext cx="32004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Microsoft Dataverse · 8 tables</a:t>
            </a:r>
          </a:p>
        </p:txBody>
      </p:sp>
      <p:sp>
        <p:nvSpPr>
          <p:cNvPr id="22" name="Diamond 21"/>
          <p:cNvSpPr/>
          <p:nvPr/>
        </p:nvSpPr>
        <p:spPr>
          <a:xfrm>
            <a:off x="580644" y="3621024"/>
            <a:ext cx="1280160" cy="365760"/>
          </a:xfrm>
          <a:prstGeom prst="diamond">
            <a:avLst/>
          </a:prstGeom>
          <a:solidFill>
            <a:srgbClr val="FEF3C7"/>
          </a:solidFill>
          <a:ln w="1905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Tier?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15668" y="3621024"/>
            <a:ext cx="169164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Tier 1</a:t>
            </a:r>
          </a:p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Auto-approve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62172" y="3621024"/>
            <a:ext cx="169164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Tier 2</a:t>
            </a:r>
          </a:p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Teams Adaptive Card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08676" y="3621024"/>
            <a:ext cx="1691640" cy="310896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Tier 3</a:t>
            </a:r>
          </a:p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Live CSR escalation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Explanation Agent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192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Notify_Customer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4352544"/>
            <a:ext cx="22860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BI · Operations 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502920"/>
            <a:ext cx="16002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0A2540"/>
                </a:solidFill>
                <a:latin typeface="Segoe UI"/>
              </a:rPr>
              <a:t>Security &amp; Compliance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7589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Microsoft Entra ID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SSO + RBAC + roles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12161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Key Vault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Secrets + keys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16733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Application Insights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Telemetry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2130552"/>
            <a:ext cx="1600200" cy="411480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Power Platform DLP</a:t>
            </a:r>
          </a:p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Connector policies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25877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Encryption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At rest + in transit (TLS 1.2+)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06640" y="3044952"/>
            <a:ext cx="1600200" cy="77724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Compliance Mapping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Colorado SB21-169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NAIC AI Bulletin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NY DFS Circular 7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CA AB 2930 (pending)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1060704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450592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40480" y="813816"/>
            <a:ext cx="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840480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40480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60704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303020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840480" y="117957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230368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377940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0302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9466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84048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84048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840480" y="1911096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30302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99466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048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84048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302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9466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630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37794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40480" y="3200400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220724" y="3566160"/>
            <a:ext cx="2619756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860804" y="3776472"/>
            <a:ext cx="54864" cy="27432"/>
          </a:xfrm>
          <a:prstGeom prst="line">
            <a:avLst/>
          </a:prstGeom>
          <a:ln w="19050">
            <a:solidFill>
              <a:srgbClr val="16A34A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860804" y="3776472"/>
            <a:ext cx="1801368" cy="27432"/>
          </a:xfrm>
          <a:prstGeom prst="line">
            <a:avLst/>
          </a:prstGeom>
          <a:ln w="19050">
            <a:solidFill>
              <a:srgbClr val="D9770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860804" y="3776472"/>
            <a:ext cx="3547872" cy="27432"/>
          </a:xfrm>
          <a:prstGeom prst="line">
            <a:avLst/>
          </a:prstGeom>
          <a:ln w="19050">
            <a:solidFill>
              <a:srgbClr val="DC2626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651760" y="3931920"/>
            <a:ext cx="10972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651760" y="3931920"/>
            <a:ext cx="185623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749040" y="4142232"/>
            <a:ext cx="182880" cy="0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3840480" y="4297680"/>
            <a:ext cx="11887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Profile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58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Sameet Dandawate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677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1305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8288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Prasad Barsode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393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5021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Rahul Chavan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109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737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5720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Suraj Chaudhari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825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2453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9436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Abhijeet Rajvaidya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754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616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315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Utkarsh Agrawal</a:t>
            </a:r>
            <a:endParaRPr lang="en-US" sz="1000" dirty="0"/>
          </a:p>
        </p:txBody>
      </p:sp>
      <p:sp>
        <p:nvSpPr>
          <p:cNvPr id="28" name="Role 1"/>
          <p:cNvSpPr txBox="1"/>
          <p:nvPr/>
        </p:nvSpPr>
        <p:spPr>
          <a:xfrm>
            <a:off x="457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Team SPOC · End to end Architecture Lead &amp; Data . Dataverse</a:t>
            </a:r>
          </a:p>
        </p:txBody>
      </p:sp>
      <p:sp>
        <p:nvSpPr>
          <p:cNvPr id="29" name="Role 2"/>
          <p:cNvSpPr txBox="1"/>
          <p:nvPr/>
        </p:nvSpPr>
        <p:spPr>
          <a:xfrm>
            <a:off x="18288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Domain Product Manager· workflow &amp; expert</a:t>
            </a:r>
            <a:br>
              <a:rPr lang="en-US" sz="900" dirty="0">
                <a:solidFill>
                  <a:srgbClr val="555555"/>
                </a:solidFill>
                <a:latin typeface="Calibri"/>
              </a:rPr>
            </a:br>
            <a:r>
              <a:rPr lang="en-US" sz="900" dirty="0">
                <a:solidFill>
                  <a:srgbClr val="555555"/>
                </a:solidFill>
                <a:latin typeface="Calibri"/>
              </a:rPr>
              <a:t>Architecture</a:t>
            </a:r>
          </a:p>
        </p:txBody>
      </p:sp>
      <p:sp>
        <p:nvSpPr>
          <p:cNvPr id="30" name="Role 3"/>
          <p:cNvSpPr txBox="1"/>
          <p:nvPr/>
        </p:nvSpPr>
        <p:spPr>
          <a:xfrm>
            <a:off x="32004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Tech </a:t>
            </a:r>
            <a:r>
              <a:rPr lang="en-US" sz="900" dirty="0" err="1">
                <a:solidFill>
                  <a:srgbClr val="555555"/>
                </a:solidFill>
                <a:latin typeface="Calibri"/>
              </a:rPr>
              <a:t>LeadFrontend</a:t>
            </a:r>
            <a:r>
              <a:rPr lang="en-US" sz="900" dirty="0">
                <a:solidFill>
                  <a:srgbClr val="555555"/>
                </a:solidFill>
                <a:latin typeface="Calibri"/>
              </a:rPr>
              <a:t> · React on Static Web Apps</a:t>
            </a:r>
          </a:p>
        </p:txBody>
      </p:sp>
      <p:sp>
        <p:nvSpPr>
          <p:cNvPr id="31" name="Role 4"/>
          <p:cNvSpPr txBox="1"/>
          <p:nvPr/>
        </p:nvSpPr>
        <p:spPr>
          <a:xfrm>
            <a:off x="45720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Copilot Studio · Power Automate</a:t>
            </a:r>
          </a:p>
        </p:txBody>
      </p:sp>
      <p:sp>
        <p:nvSpPr>
          <p:cNvPr id="32" name="Role 5"/>
          <p:cNvSpPr txBox="1"/>
          <p:nvPr/>
        </p:nvSpPr>
        <p:spPr>
          <a:xfrm>
            <a:off x="59436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Senior Architecture Lead</a:t>
            </a:r>
          </a:p>
        </p:txBody>
      </p:sp>
      <p:sp>
        <p:nvSpPr>
          <p:cNvPr id="33" name="Role 6"/>
          <p:cNvSpPr txBox="1"/>
          <p:nvPr/>
        </p:nvSpPr>
        <p:spPr>
          <a:xfrm>
            <a:off x="7315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Demo · Power BI · backup video</a:t>
            </a:r>
          </a:p>
        </p:txBody>
      </p:sp>
      <p:sp>
        <p:nvSpPr>
          <p:cNvPr id="34" name="Collab Note"/>
          <p:cNvSpPr txBox="1"/>
          <p:nvPr/>
        </p:nvSpPr>
        <p:spPr>
          <a:xfrm>
            <a:off x="457200" y="3873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555"/>
                </a:solidFill>
                <a:latin typeface="Calibri"/>
              </a:rPr>
              <a:t>Primary contributions shown above — the team worked collaboratively across every component.</a:t>
            </a:r>
          </a:p>
        </p:txBody>
      </p:sp>
      <p:sp>
        <p:nvSpPr>
          <p:cNvPr id="35" name="Stack Heading"/>
          <p:cNvSpPr txBox="1"/>
          <p:nvPr/>
        </p:nvSpPr>
        <p:spPr>
          <a:xfrm>
            <a:off x="457200" y="4254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/>
              </a:rPr>
              <a:t>Common Microsoft stack used across the team</a:t>
            </a:r>
          </a:p>
        </p:txBody>
      </p:sp>
      <p:sp>
        <p:nvSpPr>
          <p:cNvPr id="36" name="Chip 1"/>
          <p:cNvSpPr/>
          <p:nvPr/>
        </p:nvSpPr>
        <p:spPr>
          <a:xfrm>
            <a:off x="69850" y="4635500"/>
            <a:ext cx="1117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Copilot Studio</a:t>
            </a:r>
          </a:p>
        </p:txBody>
      </p:sp>
      <p:sp>
        <p:nvSpPr>
          <p:cNvPr id="37" name="Chip 2"/>
          <p:cNvSpPr/>
          <p:nvPr/>
        </p:nvSpPr>
        <p:spPr>
          <a:xfrm>
            <a:off x="12509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Automate</a:t>
            </a:r>
          </a:p>
        </p:txBody>
      </p:sp>
      <p:sp>
        <p:nvSpPr>
          <p:cNvPr id="38" name="Chip 3"/>
          <p:cNvSpPr/>
          <p:nvPr/>
        </p:nvSpPr>
        <p:spPr>
          <a:xfrm>
            <a:off x="2520950" y="4635500"/>
            <a:ext cx="8890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Dataverse</a:t>
            </a:r>
          </a:p>
        </p:txBody>
      </p:sp>
      <p:sp>
        <p:nvSpPr>
          <p:cNvPr id="39" name="Chip 4"/>
          <p:cNvSpPr/>
          <p:nvPr/>
        </p:nvSpPr>
        <p:spPr>
          <a:xfrm>
            <a:off x="3473450" y="4635500"/>
            <a:ext cx="1041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Azure OpenAI</a:t>
            </a:r>
          </a:p>
        </p:txBody>
      </p:sp>
      <p:sp>
        <p:nvSpPr>
          <p:cNvPr id="40" name="Chip 5"/>
          <p:cNvSpPr/>
          <p:nvPr/>
        </p:nvSpPr>
        <p:spPr>
          <a:xfrm>
            <a:off x="4578350" y="46355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AI Search</a:t>
            </a:r>
          </a:p>
        </p:txBody>
      </p:sp>
      <p:sp>
        <p:nvSpPr>
          <p:cNvPr id="41" name="Chip 6"/>
          <p:cNvSpPr/>
          <p:nvPr/>
        </p:nvSpPr>
        <p:spPr>
          <a:xfrm>
            <a:off x="5454650" y="4635500"/>
            <a:ext cx="1549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Document Intelligence</a:t>
            </a:r>
          </a:p>
        </p:txBody>
      </p:sp>
      <p:sp>
        <p:nvSpPr>
          <p:cNvPr id="42" name="Chip 7"/>
          <p:cNvSpPr/>
          <p:nvPr/>
        </p:nvSpPr>
        <p:spPr>
          <a:xfrm>
            <a:off x="7067550" y="4635500"/>
            <a:ext cx="736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43" name="Chip 8"/>
          <p:cNvSpPr/>
          <p:nvPr/>
        </p:nvSpPr>
        <p:spPr>
          <a:xfrm>
            <a:off x="78676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Static Web Apps</a:t>
            </a:r>
          </a:p>
        </p:txBody>
      </p:sp>
    </p:spTree>
    <p:extLst>
      <p:ext uri="{BB962C8B-B14F-4D97-AF65-F5344CB8AC3E}">
        <p14:creationId xmlns:p14="http://schemas.microsoft.com/office/powerpoint/2010/main" val="1090137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/>
              </a:rPr>
              <a:t>References &amp; Supporting Material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0" name="LeftCol"/>
          <p:cNvSpPr txBox="1"/>
          <p:nvPr/>
        </p:nvSpPr>
        <p:spPr>
          <a:xfrm>
            <a:off x="381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Repository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github.com/Sameet1308/Hack2future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Confluence — Product Management space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Product Requirements (R1–R25) · PM/1802274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Dataverse Schema (8 tables) · PM/1802251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Architecture (4 layers) · PM/1769476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Architectural Decisions Log (17+ ADRs) · PM/2097154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Intake Agent FNOL Spec · PM/1638411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Diagrams (editable in app.diagrams.net)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02_logical_architecture.drawio — C4 Level 2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03_er_diagram.drawio — 8 entities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04_assignment_flows.drawio — Handler + Vendor engines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Schema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glassbox_schema.csv — logical + physical names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glassbox_schema.xlsx — 10-sheet workbook</a:t>
            </a:r>
          </a:p>
        </p:txBody>
      </p:sp>
      <p:sp>
        <p:nvSpPr>
          <p:cNvPr id="201" name="RightCol"/>
          <p:cNvSpPr txBox="1"/>
          <p:nvPr/>
        </p:nvSpPr>
        <p:spPr>
          <a:xfrm>
            <a:off x="4699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Demo assets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Live React app — Vite + Tailwind (frontend/)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Theater Mode — /handler/theater/CLM-2026-4520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Delivery timeline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submission — 2026-05-18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evaluation — 2026-05-25 → 05-29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build — 2026-06-01 → 06-12 (12 days)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judging — 2026-06-16 → 06-24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Closure + winners — 2026-06-30 → 07-07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Regulatory references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Colorado SB21-169 — AI/ML non-discrimination &amp; governance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NAIC AI Model Bulletin (Dec 2023) — adopted by 20+ states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NY DFS Circular Letter No. 7 (2024) — AI documentation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CA AB 2930 (pending) — algorithmic transparency</a:t>
            </a:r>
          </a:p>
        </p:txBody>
      </p:sp>
    </p:spTree>
    <p:extLst>
      <p:ext uri="{BB962C8B-B14F-4D97-AF65-F5344CB8AC3E}">
        <p14:creationId xmlns:p14="http://schemas.microsoft.com/office/powerpoint/2010/main" val="12873561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B5F26E-7468-4842-966A-FAD424BF8FC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9fd2ed5a-f34b-4993-8f5e-01ef063cf64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3396</TotalTime>
  <Words>1530</Words>
  <Application>Microsoft Office PowerPoint</Application>
  <PresentationFormat>On-screen Show (16:9)</PresentationFormat>
  <Paragraphs>183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Hackathon Blueprint Submission Template</dc:title>
  <dc:subject>PptxGenJS Presentation</dc:subject>
  <dc:creator>PptxGenJS</dc:creator>
  <cp:lastModifiedBy>Sameet Dandawate</cp:lastModifiedBy>
  <cp:revision>5</cp:revision>
  <dcterms:created xsi:type="dcterms:W3CDTF">2026-05-14T21:25:56Z</dcterms:created>
  <dcterms:modified xsi:type="dcterms:W3CDTF">2026-05-18T03:32:16Z</dcterms:modified>
</cp:coreProperties>
</file>