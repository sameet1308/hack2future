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1960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Challenge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31750">
            <a:solidFill>
              <a:srgbClr val="B85042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77824"/>
          <a:ext cx="8412480" cy="349300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SPOC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Chosen Challenge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Please state the exact one liner of the challenge mentioned in the site which was picked during registration.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 a clear, concise title that reflects the problem being solved and the proposed solution.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Challenge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31750">
            <a:solidFill>
              <a:srgbClr val="B85042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77824"/>
          <a:ext cx="841248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Proposal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problem statement or business challenge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proposed solution approach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users or beneficiaries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business or technical value (productivity, cost, insights, speed, quality)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world application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extensibility (post-hack roadmap)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Technology 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 Touched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all key technologies, platforms, and services involved in the solution.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 (where applicable):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platforms (e.g., Azure services)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/ Data / App services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tools, APIs, or frameworks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DevOps / Security components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relevance/appetite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Benefits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metrics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31750">
            <a:solidFill>
              <a:srgbClr val="B85042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77824"/>
          <a:ext cx="603504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Overview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Components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&amp; Compliance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92240" y="877824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visual representation of the solution, showing: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interaction flow/wireframe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system components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between services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points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/ compliance considerations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Profile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31750">
            <a:solidFill>
              <a:srgbClr val="B850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1005840" cy="1005840"/>
          </a:xfrm>
          <a:prstGeom prst="ellipse">
            <a:avLst/>
          </a:prstGeom>
          <a:solidFill>
            <a:srgbClr val="EBEBEB"/>
          </a:solidFill>
          <a:ln w="19050">
            <a:solidFill>
              <a:srgbClr val="8888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481328"/>
            <a:ext cx="493776" cy="42976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1920240"/>
            <a:ext cx="768096" cy="47548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505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&lt;NAME&gt;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0" y="1371600"/>
            <a:ext cx="1005840" cy="1005840"/>
          </a:xfrm>
          <a:prstGeom prst="ellipse">
            <a:avLst/>
          </a:prstGeom>
          <a:solidFill>
            <a:srgbClr val="EBEBEB"/>
          </a:solidFill>
          <a:ln w="19050">
            <a:solidFill>
              <a:srgbClr val="8888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67712" y="1481328"/>
            <a:ext cx="493776" cy="42976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30552" y="1920240"/>
            <a:ext cx="768096" cy="47548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24505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&lt;NAME&gt;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1371600"/>
            <a:ext cx="1005840" cy="1005840"/>
          </a:xfrm>
          <a:prstGeom prst="ellipse">
            <a:avLst/>
          </a:prstGeom>
          <a:solidFill>
            <a:srgbClr val="EBEBEB"/>
          </a:solidFill>
          <a:ln w="19050">
            <a:solidFill>
              <a:srgbClr val="8888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39312" y="1481328"/>
            <a:ext cx="493776" cy="42976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02152" y="1920240"/>
            <a:ext cx="768096" cy="47548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4505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&lt;NAME&gt;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1005840" cy="1005840"/>
          </a:xfrm>
          <a:prstGeom prst="ellipse">
            <a:avLst/>
          </a:prstGeom>
          <a:solidFill>
            <a:srgbClr val="EBEBEB"/>
          </a:solidFill>
          <a:ln w="19050">
            <a:solidFill>
              <a:srgbClr val="8888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10912" y="1481328"/>
            <a:ext cx="493776" cy="42976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73752" y="1920240"/>
            <a:ext cx="768096" cy="47548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24505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&lt;NAME&gt;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1371600"/>
            <a:ext cx="1005840" cy="1005840"/>
          </a:xfrm>
          <a:prstGeom prst="ellipse">
            <a:avLst/>
          </a:prstGeom>
          <a:solidFill>
            <a:srgbClr val="EBEBEB"/>
          </a:solidFill>
          <a:ln w="19050">
            <a:solidFill>
              <a:srgbClr val="8888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82512" y="1481328"/>
            <a:ext cx="493776" cy="42976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45352" y="1920240"/>
            <a:ext cx="768096" cy="47548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24505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&lt;NAME&gt;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98080" y="1371600"/>
            <a:ext cx="1005840" cy="1005840"/>
          </a:xfrm>
          <a:prstGeom prst="ellipse">
            <a:avLst/>
          </a:prstGeom>
          <a:solidFill>
            <a:srgbClr val="EBEBEB"/>
          </a:solidFill>
          <a:ln w="19050">
            <a:solidFill>
              <a:srgbClr val="8888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54112" y="1481328"/>
            <a:ext cx="493776" cy="42976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16952" y="1920240"/>
            <a:ext cx="768096" cy="47548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0" y="24505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&lt;NAME&gt;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References/Points (If Any)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31750">
            <a:solidFill>
              <a:srgbClr val="B85042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Challenge Statement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841248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676656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Innovators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Lead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Srikanth Dharmana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Chosen Challenge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can AI accelerate insurance claim processing while improving accuracy and reducing fraud?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 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Intelligent Claims Copilot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Statement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Claims processing is manual, slow, error-prone, and fraud-prone due to fragmented data sources.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Approach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AI-powered Claims Copilot using RAG + Agentic workflows: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Auto-ingest claim documents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using policy knowledge base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multi-agent decisioning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 real-time adjudication recommendations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Users 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Claims adjusters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Underwriters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investigators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40–60% faster claim processing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Reduced fraud leakage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 SLA adherence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Real-World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 companies processing health, motor, and property claims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with external data providers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learning loop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Cross-industry expansion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Technology 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 Used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OpenAI (GPT models) – Copilot reasoning engine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AI Search – RAG knowledge retrieval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Functions – Workflow orchestration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Fabric – Data ingestion &amp; analytics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Platform (Power Apps + Power Automate) – UI &amp; workflows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API Management – Integration layer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DevOps – CI/CD pipeline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Entra ID – Identity &amp; security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566928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1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uploads claim (documents, images)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 extracts structured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retrieves policy documents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system evaluates: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685800" lvl="1" indent="-3429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Eligibility Agent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685800" lvl="1" indent="-3429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Detection Agent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685800" lvl="1" indent="-3429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 Agent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(Power Apps / Web UI)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Orchestrator (Azure OpenAI + Agent Framework)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Layer (Fabric + Data Lake)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Layer (Azure AI Search)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Layer (APIs, external systems)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&amp;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Role-based access (Entra ID)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PII masking &amp; encryption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logging via Azure Monitor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217920" y="886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Level Technical Architecture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217920" y="11521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scalable, governed, multi-agent architecture that transforms static policies into reusable enterprise intelligence.</a:t>
            </a:r>
            <a:endParaRPr lang="en-US" sz="700" dirty="0"/>
          </a:p>
        </p:txBody>
      </p:sp>
      <p:sp>
        <p:nvSpPr>
          <p:cNvPr id="5" name="Shape 5"/>
          <p:cNvSpPr/>
          <p:nvPr/>
        </p:nvSpPr>
        <p:spPr>
          <a:xfrm>
            <a:off x="6217920" y="1435608"/>
            <a:ext cx="18288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0" y="1435608"/>
            <a:ext cx="2560320" cy="256032"/>
          </a:xfrm>
          <a:prstGeom prst="rect">
            <a:avLst/>
          </a:prstGeom>
          <a:solidFill>
            <a:srgbClr val="F3F4F6"/>
          </a:solidFill>
          <a:ln w="6350">
            <a:solidFill>
              <a:srgbClr val="C0C0C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37376" y="143560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Microsoft Fabric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17920" y="1719072"/>
            <a:ext cx="18288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0" y="1719072"/>
            <a:ext cx="2560320" cy="256032"/>
          </a:xfrm>
          <a:prstGeom prst="rect">
            <a:avLst/>
          </a:prstGeom>
          <a:solidFill>
            <a:srgbClr val="F3F4F6"/>
          </a:solidFill>
          <a:ln w="6350">
            <a:solidFill>
              <a:srgbClr val="C0C0C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37376" y="171907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 Layer</a:t>
            </a: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Azure AI Search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217920" y="2002536"/>
            <a:ext cx="18288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00800" y="2002536"/>
            <a:ext cx="2560320" cy="256032"/>
          </a:xfrm>
          <a:prstGeom prst="rect">
            <a:avLst/>
          </a:prstGeom>
          <a:solidFill>
            <a:srgbClr val="F3F4F6"/>
          </a:solidFill>
          <a:ln w="6350">
            <a:solidFill>
              <a:srgbClr val="C0C0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37376" y="200253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Layer</a:t>
            </a: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Azure AI Foundry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400800" y="22860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○ Router · Policy Q&amp;A · Summarization · Topic Extraction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6217920" y="2496312"/>
            <a:ext cx="1828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00800" y="2496312"/>
            <a:ext cx="2560320" cy="256032"/>
          </a:xfrm>
          <a:prstGeom prst="rect">
            <a:avLst/>
          </a:prstGeom>
          <a:solidFill>
            <a:srgbClr val="F3F4F6"/>
          </a:solidFill>
          <a:ln w="6350">
            <a:solidFill>
              <a:srgbClr val="C0C0C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37376" y="249631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</a:t>
            </a: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Azure OpenAI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217920" y="2779776"/>
            <a:ext cx="18288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0" y="2779776"/>
            <a:ext cx="2560320" cy="256032"/>
          </a:xfrm>
          <a:prstGeom prst="rect">
            <a:avLst/>
          </a:prstGeom>
          <a:solidFill>
            <a:srgbClr val="F3F4F6"/>
          </a:solidFill>
          <a:ln w="6350">
            <a:solidFill>
              <a:srgbClr val="C0C0C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37376" y="277977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Observability</a:t>
            </a: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Azure Monitor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6217920" y="3063240"/>
            <a:ext cx="182880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400800" y="3063240"/>
            <a:ext cx="2560320" cy="256032"/>
          </a:xfrm>
          <a:prstGeom prst="rect">
            <a:avLst/>
          </a:prstGeom>
          <a:solidFill>
            <a:srgbClr val="F3F4F6"/>
          </a:solidFill>
          <a:ln w="6350">
            <a:solidFill>
              <a:srgbClr val="C0C0C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37376" y="306324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Layer</a:t>
            </a: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Power BI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217920" y="3392424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governed, multi-agent enterprise architecture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6217920" y="3611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Collaboration Demo Flow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217920" y="3886200"/>
            <a:ext cx="182880" cy="1828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17920" y="38862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6437376" y="384048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Question: </a:t>
            </a: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submits a cross-policy question via web/app interface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6217920" y="4178808"/>
            <a:ext cx="182880" cy="1828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17920" y="41788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6437376" y="4133088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Agent: </a:t>
            </a: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intent, assesses domain, delegates to specialist agent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6217920" y="4471416"/>
            <a:ext cx="182880" cy="1828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17920" y="44714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6437376" y="4425696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Q&amp;A Agent: </a:t>
            </a: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query, retrieves policy content, multi-document reasoning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6217920" y="4764024"/>
            <a:ext cx="182880" cy="1828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217920" y="47640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6437376" y="4718304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Memory: </a:t>
            </a: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vectorized policy knowledge, enables knowledge reuse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6217920" y="5056632"/>
            <a:ext cx="182880" cy="1828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217920" y="5056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6437376" y="5010912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Extraction: </a:t>
            </a: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business topics, assigns risk level &amp; confidence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6217920" y="5349240"/>
            <a:ext cx="182880" cy="1828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217920" y="53492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6437376" y="530352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Logging: </a:t>
            </a: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agent actions, captures audit trail via Fabric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6217920" y="5641848"/>
            <a:ext cx="182880" cy="1828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217920" y="56418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6437376" y="5596128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Dashboard: </a:t>
            </a: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memory reuse %, agent collaboration index, trends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706</Words>
  <Application>Microsoft Office PowerPoint</Application>
  <PresentationFormat>On-screen Show (16:9)</PresentationFormat>
  <Paragraphs>156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Hackathon Blueprint Submission Template</dc:title>
  <dc:subject>PptxGenJS Presentation</dc:subject>
  <dc:creator>PptxGenJS</dc:creator>
  <cp:lastModifiedBy>Sameet Dandawate</cp:lastModifiedBy>
  <cp:revision>1</cp:revision>
  <dcterms:created xsi:type="dcterms:W3CDTF">2026-05-14T21:25:56Z</dcterms:created>
  <dcterms:modified xsi:type="dcterms:W3CDTF">2026-05-15T18:07:29Z</dcterms:modified>
</cp:coreProperties>
</file>