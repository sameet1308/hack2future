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96" r:id="rId2"/>
    <p:sldId id="297" r:id="rId3"/>
    <p:sldId id="301" r:id="rId4"/>
    <p:sldId id="302" r:id="rId5"/>
    <p:sldId id="280" r:id="rId6"/>
    <p:sldId id="282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96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312533"/>
              </p:ext>
            </p:extLst>
          </p:nvPr>
        </p:nvGraphicFramePr>
        <p:xfrm>
          <a:off x="365760" y="877824"/>
          <a:ext cx="8412480" cy="405511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AI Elites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SPOC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Sameet Dandawate (SPOC) · Prasad Barsode · Rahul Chavan · Suraj Chaudhari · Abhijeet Rajvaidya · Utkarsh Agrawal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Business Challenge 2 — Insurance Agentic Claims Processing.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Build an Agentic AI system for end-to-end claim processing — multi-channel intake, policy validation and missing-information retrieval, document understanding, adjudication, human-in-the-loop handling, and CSR support.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Value to Business: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Faster claim settlement cycles · reduced manual processing · improved accuracy &amp; fraud detection · enhanced customer satisfaction.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Key Objectives: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Design multi-agent workflows · implement document-understanding pipelines · build adjudication logic · enable human-in-loop escalation flows.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Innovation &amp; Skills: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· Azure AI · Power Automate · Dataverse · Teams · MCP tools.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Please state the exact one liner of the challenge mentioned in the site which was picked during registration.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/>
                        </a:rPr>
                        <a:t>Insurance Agentic Claims Processing Solution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a clear, concise title that reflects the problem being solved and the proposed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619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" y="-7620"/>
            <a:ext cx="8412480" cy="3886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98120" y="380999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17026"/>
              </p:ext>
            </p:extLst>
          </p:nvPr>
        </p:nvGraphicFramePr>
        <p:xfrm>
          <a:off x="198120" y="398942"/>
          <a:ext cx="8724900" cy="4756751"/>
        </p:xfrm>
        <a:graphic>
          <a:graphicData uri="http://schemas.openxmlformats.org/drawingml/2006/table">
            <a:tbl>
              <a:tblPr/>
              <a:tblGrid>
                <a:gridCol w="1612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82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Proposal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Problem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Claims today are slow, fragmented across channels, document-heavy, and prone to fraud; AI rules (CO SB21-169, NAIC, NY DFS C7) penalize black-box decisions.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Solution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Agentic AI system for end-to-end claim processing — multi-channel intake, policy validation, missing-information retrieval, document understanding, adjudication, human-in-the-loop, and CSR support on Power Platform + Azure AI.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Value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Faster settlement cycles · reduced manual effort · improved accuracy &amp; fraud detection · enhanced customer satisfaction; every decision logged plain-English to Dataverse.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Roadmap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All 11 Personal Auto loss types · WhatsApp + Fitbit (PIP) · Property + Specialty · ML fraud · Voice/IVR via Dynamics 365.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 statement or business challenge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proposed solution approach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users or beneficiaries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business or technical value (productivity, cost, insights, speed, quality)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world application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extensibility (post-hack roadmap)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27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Technology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Touched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 / Data / App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(Intake + Explanation) · Azure OpenAI GPT-4.1 (adjudication, vision, sentiment) · Document Intelligence · Azure AI Search (RAG) · Dataverse (8 tables) · Power Automate · Power BI Embedded.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Channels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Microsoft Teams (Adaptive Cards) · Outlook · Azure Communication Services (SMS) · Bot Framework Direct Line.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Front-end, Infra &amp; DevOps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Power Apps (canvas + model-driven) — Microsoft-native default; or React SPA on Azure Static Web Apps. Blob Storage · Key Vault · Entra ID (SSO + RBAC) · Power Platform Pipelines · GitHub Actions · Application Insights · DLP.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key technologies, platforms, and services involved in the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(where applicable):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platforms (e.g., Azure services)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/ Data / App 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tools, APIs, or frameworks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 / Security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7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Market &amp; cost: ~$310B/yr US Personal Auto premium · 50%+ Tier-1 auto-approval halves handler load; Lemonade proven sub-3-sec settlement.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Metrics: &lt;2 min Tier-1 decision · &lt;90 sec FNOL · 5 channels · all 11 loss types · 7 fraud checks · 100% audit-logged.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Security &amp; compliance: Entra ID SSO + RBAC · Key Vault · DLP; Decision_Rationale satisfies CO SB21-169, NAIC, NY DFS C7, CA AB 2930.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Market relevance/appetite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Cost benefits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Performance metrics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176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" y="18289"/>
            <a:ext cx="8412480" cy="315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" y="377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7492E99-FFC4-4BBA-B5B7-AD1A15367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357691"/>
              </p:ext>
            </p:extLst>
          </p:nvPr>
        </p:nvGraphicFramePr>
        <p:xfrm>
          <a:off x="137160" y="421643"/>
          <a:ext cx="6273800" cy="4636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02332326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3484333438"/>
                    </a:ext>
                  </a:extLst>
                </a:gridCol>
              </a:tblGrid>
              <a:tr h="32999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83331"/>
                  </a:ext>
                </a:extLst>
              </a:tr>
              <a:tr h="133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Architecture Overview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Stack: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4-layer architecture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Microsoft Power Platform + Azure 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 Channels (Mobile, Web, Teams, Email)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(canvas + model-driven) or React SPA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Static Web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Orchestration: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Single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Orchestrator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coordinates 4 specialists — Intake, Document, Policy &amp; Adjudication, CSR / HITL. Every step writes to an immutable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Decision_Rationale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log.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Happy Path Tier-1: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Multi-channel intake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Intake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creates claim → parallel Document understanding + Policy validation → Adjudication → auto-approve or escalate to adjuster in Teams → customer notified → Power BI live.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484802"/>
                  </a:ext>
                </a:extLst>
              </a:tr>
              <a:tr h="149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Core Components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Conversational &amp; Orchestration: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(intake topics + CSR support)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flows for orchestration, notifications, audit logging.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OpenAI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(GPT-4o for adjudication/vision, small models for triage)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Document Intelligence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forms/IDs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Search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RAG over policies &amp; SOPs.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(claims, policies, decisions, audit)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Blob Storage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documents and photos.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Integrations &amp; UX: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MCP tools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custom connectors for SoR (Guidewire/Duck Creek), fraud / enrichment, identity, e-sign.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Customer + Adjuster UIs;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Teams Adaptive Cards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HITL;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 Embedded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7742708"/>
                  </a:ext>
                </a:extLst>
              </a:tr>
              <a:tr h="1330000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Security &amp; Compliance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Identity &amp; secrets: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Entra ID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SSO + RBAC (handler / supervisor / admin);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Key Vault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all credentials; environment-scoped connection refs.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 &amp; PII: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Encryption at rest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TLS 1.2+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in transit · row/table-level RBAC · PII detection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Language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, masking + tokenization, no PII in prompts; data stays in tenant, region-pinned.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Governance, ALM &amp; audit: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Platform DLP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classifies connectors;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Pipelines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(Dev→Test→Prod)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GitHub Actions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; observability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Application Insights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 Audit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(append-only).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Explainability: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Every agent decision logs inputs, model version, rationale and confidence — audit trail for dispute resolution and emerging AI regulations.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60416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2B24F53-2001-79BB-9511-39472BB26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776" y="471173"/>
            <a:ext cx="2540064" cy="446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636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45720"/>
            <a:ext cx="8778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2540"/>
                </a:solidFill>
                <a:latin typeface="Segoe UI"/>
              </a:rPr>
              <a:t>Architecture Flow — top-to-bottom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292608"/>
            <a:ext cx="87782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680"/>
                </a:solidFill>
                <a:latin typeface="Segoe UI"/>
              </a:rPr>
              <a:t>Customer → 5 channels → Copilot Studio → Power Automate → 4 parallel agents → audit → tier routing → notify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502920"/>
            <a:ext cx="10972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900" b="1">
                <a:solidFill>
                  <a:srgbClr val="0A2540"/>
                </a:solidFill>
                <a:latin typeface="Segoe UI"/>
              </a:rPr>
              <a:t>Customer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Mobile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0512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Web 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868680"/>
            <a:ext cx="12801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5B41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5B41A1"/>
                </a:solidFill>
                <a:latin typeface="Segoe UI"/>
              </a:rPr>
              <a:t>Microsoft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SMS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0176" y="868680"/>
            <a:ext cx="128016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107C10"/>
                </a:solidFill>
                <a:latin typeface="Segoe UI"/>
              </a:rPr>
              <a:t>Email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Static Web Apps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742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Function · Token Broker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906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Bot Service · Direct 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0070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Comm Services (SMS)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160020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Intake Agent (FNOL_Start + 11 child topics)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96596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Master Orchestration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Extraction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Doc Intelligence +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Policy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AI Search RAG + AOAI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2331720"/>
            <a:ext cx="1600200" cy="50292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Validation Agent</a:t>
            </a:r>
          </a:p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NOAA + NHTSA + 5 sandbox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Adjudication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OpenAI GPT-4.1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2889504"/>
            <a:ext cx="594360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★ Decision_Rationale audit log — every AI decision in plain English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3255264"/>
            <a:ext cx="32004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Microsoft Dataverse · 8 tables</a:t>
            </a:r>
          </a:p>
        </p:txBody>
      </p:sp>
      <p:sp>
        <p:nvSpPr>
          <p:cNvPr id="22" name="Diamond 21"/>
          <p:cNvSpPr/>
          <p:nvPr/>
        </p:nvSpPr>
        <p:spPr>
          <a:xfrm>
            <a:off x="580644" y="3621024"/>
            <a:ext cx="1280160" cy="365760"/>
          </a:xfrm>
          <a:prstGeom prst="diamond">
            <a:avLst/>
          </a:prstGeom>
          <a:solidFill>
            <a:srgbClr val="FEF3C7"/>
          </a:solidFill>
          <a:ln w="1905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Tier?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5668" y="3621024"/>
            <a:ext cx="169164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Tier 1</a:t>
            </a:r>
          </a:p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Auto-approve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62172" y="3621024"/>
            <a:ext cx="169164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Tier 2</a:t>
            </a:r>
          </a:p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Teams Adaptive Card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08676" y="3621024"/>
            <a:ext cx="1691640" cy="310896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Tier 3</a:t>
            </a:r>
          </a:p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Live CSR escalation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Explanation Agent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192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Notify_Customer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4352544"/>
            <a:ext cx="22860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BI · Operations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502920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2540"/>
                </a:solidFill>
                <a:latin typeface="Segoe UI"/>
              </a:rPr>
              <a:t>Security &amp; Compliance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7589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Microsoft Entra ID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SSO + RBAC + roles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12161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Key Vault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Secrets + keys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16733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Application Insights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Telemetry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2130552"/>
            <a:ext cx="1600200" cy="411480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Power Platform DLP</a:t>
            </a:r>
          </a:p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Connector policies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25877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Encryption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At rest + in transit (TLS 1.2+)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640" y="3044952"/>
            <a:ext cx="1600200" cy="77724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Compliance Mapping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Colorado SB21-169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NAIC AI Bulletin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NY DFS Circular 7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CA AB 2930 (pending)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1060704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450592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40480" y="813816"/>
            <a:ext cx="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840480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40480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60704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303020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840480" y="117957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30368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377940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0302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9466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84048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84048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40480" y="1911096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30302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99466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048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84048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302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9466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630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37794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40480" y="3200400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220724" y="3566160"/>
            <a:ext cx="2619756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860804" y="3776472"/>
            <a:ext cx="54864" cy="27432"/>
          </a:xfrm>
          <a:prstGeom prst="line">
            <a:avLst/>
          </a:prstGeom>
          <a:ln w="19050">
            <a:solidFill>
              <a:srgbClr val="16A34A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860804" y="3776472"/>
            <a:ext cx="1801368" cy="27432"/>
          </a:xfrm>
          <a:prstGeom prst="line">
            <a:avLst/>
          </a:prstGeom>
          <a:ln w="19050">
            <a:solidFill>
              <a:srgbClr val="D9770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860804" y="3776472"/>
            <a:ext cx="3547872" cy="27432"/>
          </a:xfrm>
          <a:prstGeom prst="line">
            <a:avLst/>
          </a:prstGeom>
          <a:ln w="19050">
            <a:solidFill>
              <a:srgbClr val="DC262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651760" y="3931920"/>
            <a:ext cx="10972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651760" y="3931920"/>
            <a:ext cx="185623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749040" y="4142232"/>
            <a:ext cx="182880" cy="0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3840480" y="4297680"/>
            <a:ext cx="11887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Profile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58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Sameet Dandawate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677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1305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8288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Prasad Barsode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393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5021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Rahul Chavan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109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737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5720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Suraj Chaudhari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825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2453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9436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Abhijeet Rajvaidya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754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616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15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Utkarsh Agrawal</a:t>
            </a:r>
            <a:endParaRPr lang="en-US" sz="1000" dirty="0"/>
          </a:p>
        </p:txBody>
      </p:sp>
      <p:sp>
        <p:nvSpPr>
          <p:cNvPr id="28" name="Role 1"/>
          <p:cNvSpPr txBox="1"/>
          <p:nvPr/>
        </p:nvSpPr>
        <p:spPr>
          <a:xfrm>
            <a:off x="457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Team SPOC · End to end Architecture Lead &amp; Data . Dataverse</a:t>
            </a:r>
          </a:p>
        </p:txBody>
      </p:sp>
      <p:sp>
        <p:nvSpPr>
          <p:cNvPr id="29" name="Role 2"/>
          <p:cNvSpPr txBox="1"/>
          <p:nvPr/>
        </p:nvSpPr>
        <p:spPr>
          <a:xfrm>
            <a:off x="18288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Domain Product Manager· workflow &amp; expert</a:t>
            </a:r>
            <a:br>
              <a:rPr lang="en-US" sz="900" dirty="0">
                <a:solidFill>
                  <a:srgbClr val="555555"/>
                </a:solidFill>
                <a:latin typeface="Calibri"/>
              </a:rPr>
            </a:br>
            <a:r>
              <a:rPr lang="en-US" sz="900" dirty="0">
                <a:solidFill>
                  <a:srgbClr val="555555"/>
                </a:solidFill>
                <a:latin typeface="Calibri"/>
              </a:rPr>
              <a:t>Architecture</a:t>
            </a:r>
          </a:p>
        </p:txBody>
      </p:sp>
      <p:sp>
        <p:nvSpPr>
          <p:cNvPr id="30" name="Role 3"/>
          <p:cNvSpPr txBox="1"/>
          <p:nvPr/>
        </p:nvSpPr>
        <p:spPr>
          <a:xfrm>
            <a:off x="32004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Tech </a:t>
            </a:r>
            <a:r>
              <a:rPr lang="en-US" sz="900" dirty="0" err="1">
                <a:solidFill>
                  <a:srgbClr val="555555"/>
                </a:solidFill>
                <a:latin typeface="Calibri"/>
              </a:rPr>
              <a:t>LeadFrontend</a:t>
            </a:r>
            <a:r>
              <a:rPr lang="en-US" sz="900" dirty="0">
                <a:solidFill>
                  <a:srgbClr val="555555"/>
                </a:solidFill>
                <a:latin typeface="Calibri"/>
              </a:rPr>
              <a:t> · React on Static Web Apps</a:t>
            </a:r>
          </a:p>
        </p:txBody>
      </p:sp>
      <p:sp>
        <p:nvSpPr>
          <p:cNvPr id="31" name="Role 4"/>
          <p:cNvSpPr txBox="1"/>
          <p:nvPr/>
        </p:nvSpPr>
        <p:spPr>
          <a:xfrm>
            <a:off x="45720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Copilot Studio · Power Automate</a:t>
            </a:r>
          </a:p>
        </p:txBody>
      </p:sp>
      <p:sp>
        <p:nvSpPr>
          <p:cNvPr id="32" name="Role 5"/>
          <p:cNvSpPr txBox="1"/>
          <p:nvPr/>
        </p:nvSpPr>
        <p:spPr>
          <a:xfrm>
            <a:off x="59436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Senior Architecture Lead</a:t>
            </a:r>
          </a:p>
        </p:txBody>
      </p:sp>
      <p:sp>
        <p:nvSpPr>
          <p:cNvPr id="33" name="Role 6"/>
          <p:cNvSpPr txBox="1"/>
          <p:nvPr/>
        </p:nvSpPr>
        <p:spPr>
          <a:xfrm>
            <a:off x="7315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Demo · Power BI · backup video</a:t>
            </a:r>
          </a:p>
        </p:txBody>
      </p:sp>
      <p:sp>
        <p:nvSpPr>
          <p:cNvPr id="34" name="Collab Note"/>
          <p:cNvSpPr txBox="1"/>
          <p:nvPr/>
        </p:nvSpPr>
        <p:spPr>
          <a:xfrm>
            <a:off x="457200" y="3873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555"/>
                </a:solidFill>
                <a:latin typeface="Calibri"/>
              </a:rPr>
              <a:t>Primary contributions shown above — the team worked collaboratively across every component.</a:t>
            </a:r>
          </a:p>
        </p:txBody>
      </p:sp>
      <p:sp>
        <p:nvSpPr>
          <p:cNvPr id="35" name="Stack Heading"/>
          <p:cNvSpPr txBox="1"/>
          <p:nvPr/>
        </p:nvSpPr>
        <p:spPr>
          <a:xfrm>
            <a:off x="457200" y="4254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/>
              </a:rPr>
              <a:t>Common Microsoft stack used across the team</a:t>
            </a:r>
          </a:p>
        </p:txBody>
      </p:sp>
      <p:sp>
        <p:nvSpPr>
          <p:cNvPr id="36" name="Chip 1"/>
          <p:cNvSpPr/>
          <p:nvPr/>
        </p:nvSpPr>
        <p:spPr>
          <a:xfrm>
            <a:off x="69850" y="4635500"/>
            <a:ext cx="1117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Copilot Studio</a:t>
            </a:r>
          </a:p>
        </p:txBody>
      </p:sp>
      <p:sp>
        <p:nvSpPr>
          <p:cNvPr id="37" name="Chip 2"/>
          <p:cNvSpPr/>
          <p:nvPr/>
        </p:nvSpPr>
        <p:spPr>
          <a:xfrm>
            <a:off x="12509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Automate</a:t>
            </a:r>
          </a:p>
        </p:txBody>
      </p:sp>
      <p:sp>
        <p:nvSpPr>
          <p:cNvPr id="38" name="Chip 3"/>
          <p:cNvSpPr/>
          <p:nvPr/>
        </p:nvSpPr>
        <p:spPr>
          <a:xfrm>
            <a:off x="2520950" y="4635500"/>
            <a:ext cx="8890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Dataverse</a:t>
            </a:r>
          </a:p>
        </p:txBody>
      </p:sp>
      <p:sp>
        <p:nvSpPr>
          <p:cNvPr id="39" name="Chip 4"/>
          <p:cNvSpPr/>
          <p:nvPr/>
        </p:nvSpPr>
        <p:spPr>
          <a:xfrm>
            <a:off x="3473450" y="4635500"/>
            <a:ext cx="1041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Azure OpenAI</a:t>
            </a:r>
          </a:p>
        </p:txBody>
      </p:sp>
      <p:sp>
        <p:nvSpPr>
          <p:cNvPr id="40" name="Chip 5"/>
          <p:cNvSpPr/>
          <p:nvPr/>
        </p:nvSpPr>
        <p:spPr>
          <a:xfrm>
            <a:off x="4578350" y="46355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 Search</a:t>
            </a:r>
          </a:p>
        </p:txBody>
      </p:sp>
      <p:sp>
        <p:nvSpPr>
          <p:cNvPr id="41" name="Chip 6"/>
          <p:cNvSpPr/>
          <p:nvPr/>
        </p:nvSpPr>
        <p:spPr>
          <a:xfrm>
            <a:off x="5454650" y="4635500"/>
            <a:ext cx="1549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Document Intelligence</a:t>
            </a:r>
          </a:p>
        </p:txBody>
      </p:sp>
      <p:sp>
        <p:nvSpPr>
          <p:cNvPr id="42" name="Chip 7"/>
          <p:cNvSpPr/>
          <p:nvPr/>
        </p:nvSpPr>
        <p:spPr>
          <a:xfrm>
            <a:off x="7067550" y="4635500"/>
            <a:ext cx="736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43" name="Chip 8"/>
          <p:cNvSpPr/>
          <p:nvPr/>
        </p:nvSpPr>
        <p:spPr>
          <a:xfrm>
            <a:off x="78676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Static Web Apps</a:t>
            </a:r>
          </a:p>
        </p:txBody>
      </p:sp>
    </p:spTree>
    <p:extLst>
      <p:ext uri="{BB962C8B-B14F-4D97-AF65-F5344CB8AC3E}">
        <p14:creationId xmlns:p14="http://schemas.microsoft.com/office/powerpoint/2010/main" val="1090137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/>
              </a:rPr>
              <a:t>References &amp; Supporting Material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0" name="LeftCol"/>
          <p:cNvSpPr txBox="1"/>
          <p:nvPr/>
        </p:nvSpPr>
        <p:spPr>
          <a:xfrm>
            <a:off x="381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Repository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github.com/Sameet1308/Hack2future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Confluence — Product Management space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Product Requirements (R1–R25) · PM/1802274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Dataverse Schema (8 tables) · PM/1802251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Architecture (4 layers) · PM/1769476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Architectural Decisions Log (17+ ADRs) · PM/2097154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Intake Agent FNOL Spec · PM/1638411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Diagrams (editable in app.diagrams.net)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02_logical_architecture.drawio — C4 Level 2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03_er_diagram.drawio — 8 entities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04_assignment_flows.drawio — Handler + Vendor engines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Schema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glassbox_schema.csv — logical + physical names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glassbox_schema.xlsx — 10-sheet workbook</a:t>
            </a:r>
          </a:p>
        </p:txBody>
      </p:sp>
      <p:sp>
        <p:nvSpPr>
          <p:cNvPr id="201" name="RightCol"/>
          <p:cNvSpPr txBox="1"/>
          <p:nvPr/>
        </p:nvSpPr>
        <p:spPr>
          <a:xfrm>
            <a:off x="4699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Demo assets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Live React app — Vite + Tailwind (frontend/)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Theater Mode — /handler/theater/CLM-2026-4520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Delivery timeline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submission — 2026-05-18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evaluation — 2026-05-25 → 05-29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build — 2026-06-01 → 06-12 (12 days)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judging — 2026-06-16 → 06-24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Closure + winners — 2026-06-30 → 07-07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Regulatory references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Colorado SB21-169 — AI/ML non-discrimination &amp; governance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NAIC AI Model Bulletin (Dec 2023) — adopted by 20+ states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NY DFS Circular Letter No. 7 (2024) — AI documentation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CA AB 2930 (pending) — algorithmic transparency</a:t>
            </a:r>
          </a:p>
        </p:txBody>
      </p:sp>
    </p:spTree>
    <p:extLst>
      <p:ext uri="{BB962C8B-B14F-4D97-AF65-F5344CB8AC3E}">
        <p14:creationId xmlns:p14="http://schemas.microsoft.com/office/powerpoint/2010/main" val="1287356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3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B5F26E-7468-4842-966A-FAD424BF8FC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9fd2ed5a-f34b-4993-8f5e-01ef063cf64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3392</TotalTime>
  <Words>1530</Words>
  <Application>Microsoft Office PowerPoint</Application>
  <PresentationFormat>On-screen Show (16:9)</PresentationFormat>
  <Paragraphs>183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Blueprint Submission Template</dc:title>
  <dc:subject>PptxGenJS Presentation</dc:subject>
  <dc:creator>PptxGenJS</dc:creator>
  <cp:lastModifiedBy>Sameet Dandawate</cp:lastModifiedBy>
  <cp:revision>4</cp:revision>
  <dcterms:created xsi:type="dcterms:W3CDTF">2026-05-14T21:25:56Z</dcterms:created>
  <dcterms:modified xsi:type="dcterms:W3CDTF">2026-05-18T03:05:11Z</dcterms:modified>
</cp:coreProperties>
</file>