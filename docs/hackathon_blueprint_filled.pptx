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6" r:id="rId2"/>
    <p:sldId id="297" r:id="rId3"/>
    <p:sldId id="301" r:id="rId4"/>
    <p:sldId id="303" r:id="rId5"/>
    <p:sldId id="304" r:id="rId14"/>
    <p:sldId id="302" r:id="rId6"/>
    <p:sldId id="280" r:id="rId7"/>
    <p:sldId id="28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BA9B84-F734-96CC-4B90-4D7A566A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63500"/>
            <a:ext cx="2873774" cy="50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100062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36576"/>
            <a:ext cx="9006840" cy="1828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1200" b="1" i="0">
                <a:solidFill>
                  <a:srgbClr val="0A2540"/>
                </a:solidFill>
              </a:rPr>
              <a:t>Logical Architecture (C4 L2)  —  swimlanes + numbered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" y="201168"/>
            <a:ext cx="9006840" cy="12801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Numbers 1-13 trace runtime flow  ·  read with the commentary panel on the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57784" y="365760"/>
            <a:ext cx="5641848" cy="475488"/>
          </a:xfrm>
          <a:prstGeom prst="rect">
            <a:avLst/>
          </a:prstGeom>
          <a:solidFill>
            <a:srgbClr val="FFF7ED"/>
          </a:solidFill>
          <a:ln w="508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" y="365760"/>
            <a:ext cx="502920" cy="475488"/>
          </a:xfrm>
          <a:prstGeom prst="roundRect">
            <a:avLst/>
          </a:prstGeom>
          <a:solidFill>
            <a:srgbClr val="EA580C"/>
          </a:solidFill>
          <a:ln w="50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" y="365760"/>
            <a:ext cx="502920" cy="47548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CUSTOMER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&amp; CHANNELS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" y="859536"/>
            <a:ext cx="5641848" cy="475488"/>
          </a:xfrm>
          <a:prstGeom prst="rect">
            <a:avLst/>
          </a:prstGeom>
          <a:solidFill>
            <a:srgbClr val="EFF6FF"/>
          </a:solidFill>
          <a:ln w="508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" y="859536"/>
            <a:ext cx="502920" cy="475488"/>
          </a:xfrm>
          <a:prstGeom prst="roundRect">
            <a:avLst/>
          </a:prstGeom>
          <a:solidFill>
            <a:srgbClr val="0078D4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" y="859536"/>
            <a:ext cx="502920" cy="47548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FRONTEND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(SWA)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" y="1353312"/>
            <a:ext cx="5641848" cy="566928"/>
          </a:xfrm>
          <a:prstGeom prst="rect">
            <a:avLst/>
          </a:prstGeom>
          <a:solidFill>
            <a:srgbClr val="FAF5FF"/>
          </a:solidFill>
          <a:ln w="508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" y="1353312"/>
            <a:ext cx="502920" cy="566928"/>
          </a:xfrm>
          <a:prstGeom prst="roundRect">
            <a:avLst/>
          </a:prstGeom>
          <a:solidFill>
            <a:srgbClr val="742774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" y="1353312"/>
            <a:ext cx="502920" cy="56692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COPILOT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" y="1938528"/>
            <a:ext cx="5641848" cy="566928"/>
          </a:xfrm>
          <a:prstGeom prst="rect">
            <a:avLst/>
          </a:prstGeom>
          <a:solidFill>
            <a:srgbClr val="FAF5FF"/>
          </a:solidFill>
          <a:ln w="508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" y="1938528"/>
            <a:ext cx="502920" cy="566928"/>
          </a:xfrm>
          <a:prstGeom prst="roundRect">
            <a:avLst/>
          </a:prstGeom>
          <a:solidFill>
            <a:srgbClr val="742774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" y="1938528"/>
            <a:ext cx="502920" cy="56692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POWER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AUTOMATE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" y="2523744"/>
            <a:ext cx="5641848" cy="841248"/>
          </a:xfrm>
          <a:prstGeom prst="rect">
            <a:avLst/>
          </a:prstGeom>
          <a:solidFill>
            <a:srgbClr val="EFF6FF"/>
          </a:solidFill>
          <a:ln w="508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" y="2523744"/>
            <a:ext cx="502920" cy="841248"/>
          </a:xfrm>
          <a:prstGeom prst="roundRect">
            <a:avLst/>
          </a:prstGeom>
          <a:solidFill>
            <a:srgbClr val="0078D4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" y="2523744"/>
            <a:ext cx="502920" cy="84124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AZURE AI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" y="3383280"/>
            <a:ext cx="5641848" cy="475488"/>
          </a:xfrm>
          <a:prstGeom prst="rect">
            <a:avLst/>
          </a:prstGeom>
          <a:solidFill>
            <a:srgbClr val="F0FDF4"/>
          </a:solidFill>
          <a:ln w="508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" y="3383280"/>
            <a:ext cx="502920" cy="475488"/>
          </a:xfrm>
          <a:prstGeom prst="roundRect">
            <a:avLst/>
          </a:prstGeom>
          <a:solidFill>
            <a:srgbClr val="107C10"/>
          </a:solidFill>
          <a:ln w="508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" y="3383280"/>
            <a:ext cx="502920" cy="47548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M365 TEAMS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(Human)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" y="3877056"/>
            <a:ext cx="5641848" cy="1097280"/>
          </a:xfrm>
          <a:prstGeom prst="rect">
            <a:avLst/>
          </a:prstGeom>
          <a:solidFill>
            <a:srgbClr val="FEF3C7"/>
          </a:solidFill>
          <a:ln w="508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" y="3877056"/>
            <a:ext cx="502920" cy="1097280"/>
          </a:xfrm>
          <a:prstGeom prst="roundRect">
            <a:avLst/>
          </a:prstGeom>
          <a:solidFill>
            <a:srgbClr val="D99416"/>
          </a:solidFill>
          <a:ln w="508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" y="3877056"/>
            <a:ext cx="502920" cy="10972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DATAVERSE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Glass Box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2336"/>
            <a:ext cx="914400" cy="384048"/>
          </a:xfrm>
          <a:prstGeom prst="roundRect">
            <a:avLst/>
          </a:prstGeom>
          <a:solidFill>
            <a:srgbClr val="EA580C"/>
          </a:solidFill>
          <a:ln w="6350">
            <a:solidFill>
              <a:srgbClr val="9A3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02336"/>
            <a:ext cx="914400" cy="384048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600" b="1">
                <a:solidFill>
                  <a:srgbClr val="FFFFFF"/>
                </a:solidFill>
              </a:rPr>
              <a:t>Customer + 5 channels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896112"/>
            <a:ext cx="1005840" cy="38404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896112"/>
            <a:ext cx="1005840" cy="384048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0A2540"/>
                </a:solidFill>
              </a:rPr>
              <a:t>2</a:t>
            </a:r>
          </a:p>
          <a:p>
            <a:pPr algn="ctr"/>
            <a:r>
              <a:rPr sz="600" b="1">
                <a:solidFill>
                  <a:srgbClr val="0A2540"/>
                </a:solidFill>
              </a:rPr>
              <a:t>React SPA + Token Broker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48840" y="896112"/>
            <a:ext cx="960120" cy="38404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896112"/>
            <a:ext cx="960120" cy="384048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0A2540"/>
                </a:solidFill>
              </a:rPr>
              <a:t>3</a:t>
            </a:r>
          </a:p>
          <a:p>
            <a:pPr algn="ctr"/>
            <a:r>
              <a:rPr sz="600" b="1">
                <a:solidFill>
                  <a:srgbClr val="0A2540"/>
                </a:solidFill>
              </a:rPr>
              <a:t>Direct Line / 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48840" y="1417320"/>
            <a:ext cx="1051560" cy="438912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1417320"/>
            <a:ext cx="105156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4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Intake Agent (AI)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0" y="1417320"/>
            <a:ext cx="1143000" cy="438912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1417320"/>
            <a:ext cx="114300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12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Explanation Agent (AI — NOT CSR)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77440" y="2011680"/>
            <a:ext cx="777240" cy="438912"/>
          </a:xfrm>
          <a:prstGeom prst="roundRect">
            <a:avLst/>
          </a:prstGeom>
          <a:solidFill>
            <a:srgbClr val="EDE4F5"/>
          </a:solidFill>
          <a:ln w="635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2011680"/>
            <a:ext cx="77724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5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Create_Claim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2011680"/>
            <a:ext cx="960120" cy="438912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46120" y="2011680"/>
            <a:ext cx="96012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6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Master Orchestration</a:t>
            </a:r>
          </a:p>
        </p:txBody>
      </p:sp>
      <p:sp>
        <p:nvSpPr>
          <p:cNvPr id="39" name="Diamond 38"/>
          <p:cNvSpPr/>
          <p:nvPr/>
        </p:nvSpPr>
        <p:spPr>
          <a:xfrm>
            <a:off x="4297680" y="2011680"/>
            <a:ext cx="685800" cy="43891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029968"/>
            <a:ext cx="685800" cy="40233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E3A0E"/>
                </a:solidFill>
              </a:rPr>
              <a:t>11</a:t>
            </a:r>
          </a:p>
          <a:p>
            <a:pPr algn="ctr"/>
            <a:r>
              <a:rPr sz="700" b="1" i="0">
                <a:solidFill>
                  <a:srgbClr val="0E3A0E"/>
                </a:solidFill>
              </a:rPr>
              <a:t>Router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2011680"/>
            <a:ext cx="1005840" cy="438912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74920" y="2011680"/>
            <a:ext cx="100584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0E3A0E"/>
                </a:solidFill>
              </a:rPr>
              <a:t>13</a:t>
            </a:r>
          </a:p>
          <a:p>
            <a:pPr algn="ctr"/>
            <a:r>
              <a:rPr sz="600" b="1">
                <a:solidFill>
                  <a:srgbClr val="0E3A0E"/>
                </a:solidFill>
              </a:rPr>
              <a:t>Notify_Customer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578608"/>
            <a:ext cx="1371600" cy="219456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2578608"/>
            <a:ext cx="137160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7  Extraction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816352"/>
            <a:ext cx="1371600" cy="219456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77440" y="2816352"/>
            <a:ext cx="137160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8  Policy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77440" y="3054096"/>
            <a:ext cx="1371600" cy="219456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3054096"/>
            <a:ext cx="137160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0A2540"/>
                </a:solidFill>
              </a:rPr>
              <a:t>9  Validation · 7 ext checks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31920" y="2743200"/>
            <a:ext cx="1371600" cy="5029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0" y="2743200"/>
            <a:ext cx="1371600" cy="5029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</a:t>
            </a:r>
          </a:p>
          <a:p>
            <a:pPr algn="ctr"/>
            <a:r>
              <a:rPr sz="600" b="1">
                <a:solidFill>
                  <a:srgbClr val="FFFFFF"/>
                </a:solidFill>
              </a:rPr>
              <a:t>Adjudication · GPT-4.1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31920" y="3438144"/>
            <a:ext cx="1097280" cy="182880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31920" y="3438144"/>
            <a:ext cx="1097280" cy="1828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92400E"/>
                </a:solidFill>
              </a:rPr>
              <a:t>T2 · Adjuster Teams Card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74920" y="3438144"/>
            <a:ext cx="1097280" cy="1828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74920" y="3438144"/>
            <a:ext cx="1097280" cy="1828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7F1D1D"/>
                </a:solidFill>
              </a:rPr>
              <a:t>T3 · Live CSR Teams Chat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3456432"/>
            <a:ext cx="3154680" cy="146304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Tier 1 = AI auto-approve, no human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950208"/>
            <a:ext cx="54864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950208"/>
            <a:ext cx="54864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207008" y="3950208"/>
            <a:ext cx="54864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07008" y="3950208"/>
            <a:ext cx="54864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73936" y="3950208"/>
            <a:ext cx="64008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73936" y="3950208"/>
            <a:ext cx="64008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Document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32304" y="3950208"/>
            <a:ext cx="82296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32304" y="3950208"/>
            <a:ext cx="82296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Communication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73552" y="3950208"/>
            <a:ext cx="54864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73552" y="3950208"/>
            <a:ext cx="54864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Adjuster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40480" y="3950208"/>
            <a:ext cx="54864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40480" y="3950208"/>
            <a:ext cx="54864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07408" y="3950208"/>
            <a:ext cx="109728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7408" y="3950208"/>
            <a:ext cx="109728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ClaimVendorAssgmt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" y="4224528"/>
            <a:ext cx="5532120" cy="365760"/>
          </a:xfrm>
          <a:prstGeom prst="roundRect">
            <a:avLst/>
          </a:prstGeom>
          <a:solidFill>
            <a:srgbClr val="F5B73A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4224528"/>
            <a:ext cx="5532120" cy="36576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🛡  Decision_Rationale  ·  THE GLASS BOX  ·  every AI step writes 1 row  ·  4 · 7 · 8 · 9 · 10 · 12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143000" y="786384"/>
            <a:ext cx="320040" cy="109728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65960" y="1088136"/>
            <a:ext cx="18288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628900" y="1280160"/>
            <a:ext cx="45720" cy="13716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74620" y="1856232"/>
            <a:ext cx="91440" cy="155448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4680" y="2231136"/>
            <a:ext cx="9144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377440" y="2450592"/>
            <a:ext cx="1348740" cy="237744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377440" y="2450592"/>
            <a:ext cx="1165860" cy="475488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377440" y="2450592"/>
            <a:ext cx="982980" cy="713232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749039" y="2688336"/>
            <a:ext cx="182881" cy="169164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49039" y="2926080"/>
            <a:ext cx="182881" cy="68580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49039" y="3131820"/>
            <a:ext cx="182881" cy="32004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617720" y="2450592"/>
            <a:ext cx="22860" cy="292608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4480559" y="2450592"/>
            <a:ext cx="160021" cy="987552"/>
          </a:xfrm>
          <a:prstGeom prst="line">
            <a:avLst/>
          </a:prstGeom>
          <a:ln w="12700">
            <a:solidFill>
              <a:srgbClr val="0F172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83480" y="2231136"/>
            <a:ext cx="640079" cy="1207008"/>
          </a:xfrm>
          <a:prstGeom prst="line">
            <a:avLst/>
          </a:prstGeom>
          <a:ln w="12700">
            <a:solidFill>
              <a:srgbClr val="0F172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640580" y="1856232"/>
            <a:ext cx="960120" cy="155448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5577840" y="1636776"/>
            <a:ext cx="59436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577840" y="1636776"/>
            <a:ext cx="0" cy="374904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080760" y="182880"/>
            <a:ext cx="45720" cy="2048256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143000" y="182880"/>
            <a:ext cx="4983480" cy="0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143000" y="182880"/>
            <a:ext cx="0" cy="219456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103120" y="1636776"/>
            <a:ext cx="45720" cy="2542032"/>
          </a:xfrm>
          <a:prstGeom prst="line">
            <a:avLst/>
          </a:prstGeom>
          <a:ln w="9525">
            <a:solidFill>
              <a:srgbClr val="D99416"/>
            </a:solidFill>
            <a:tailEnd type="triangle" w="sm" len="sm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103120" y="4178808"/>
            <a:ext cx="0" cy="45720"/>
          </a:xfrm>
          <a:prstGeom prst="line">
            <a:avLst/>
          </a:prstGeom>
          <a:ln w="9525">
            <a:solidFill>
              <a:srgbClr val="D99416"/>
            </a:solidFill>
            <a:tailEnd type="triangle" w="sm" len="sm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617720" y="3246120"/>
            <a:ext cx="0" cy="978408"/>
          </a:xfrm>
          <a:prstGeom prst="line">
            <a:avLst/>
          </a:prstGeom>
          <a:ln w="9525">
            <a:solidFill>
              <a:srgbClr val="D99416"/>
            </a:solidFill>
            <a:tailEnd type="triangle" w="sm" len="sm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6309360" y="365760"/>
            <a:ext cx="276148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09360" y="365760"/>
            <a:ext cx="2761488" cy="237744"/>
          </a:xfrm>
          <a:prstGeom prst="roundRect">
            <a:avLst/>
          </a:prstGeom>
          <a:solidFill>
            <a:srgbClr val="0A2540"/>
          </a:solidFill>
          <a:ln w="635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60" y="365760"/>
            <a:ext cx="2761488" cy="237744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FLOW LEGEND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355080" y="640080"/>
            <a:ext cx="2670048" cy="283464"/>
          </a:xfrm>
          <a:prstGeom prst="roundRect">
            <a:avLst/>
          </a:prstGeom>
          <a:solidFill>
            <a:srgbClr val="FFF7ED"/>
          </a:solidFill>
          <a:ln w="5080">
            <a:solidFill>
              <a:srgbClr val="9A3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82512" y="640080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9A3412"/>
                </a:solidFill>
              </a:rPr>
              <a:t>1  </a:t>
            </a:r>
            <a:r>
              <a:rPr sz="600" b="1">
                <a:solidFill>
                  <a:srgbClr val="0F172A"/>
                </a:solidFill>
              </a:rPr>
              <a:t>CUSTOMER FILES FNOL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Mobile · Web · Teams · SMS · Email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355080" y="941832"/>
            <a:ext cx="2670048" cy="283464"/>
          </a:xfrm>
          <a:prstGeom prst="roundRect">
            <a:avLst/>
          </a:prstGeom>
          <a:solidFill>
            <a:srgbClr val="EFF6FF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82512" y="941832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0078D4"/>
                </a:solidFill>
              </a:rPr>
              <a:t>2  </a:t>
            </a:r>
            <a:r>
              <a:rPr sz="600" b="1">
                <a:solidFill>
                  <a:srgbClr val="0F172A"/>
                </a:solidFill>
              </a:rPr>
              <a:t>REACT SPA + TOKEN BROKER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Azure Static Web Apps · token mint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55080" y="1243584"/>
            <a:ext cx="2670048" cy="283464"/>
          </a:xfrm>
          <a:prstGeom prst="roundRect">
            <a:avLst/>
          </a:prstGeom>
          <a:solidFill>
            <a:srgbClr val="EFF6FF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82512" y="1243584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0078D4"/>
                </a:solidFill>
              </a:rPr>
              <a:t>3  </a:t>
            </a:r>
            <a:r>
              <a:rPr sz="600" b="1">
                <a:solidFill>
                  <a:srgbClr val="0F172A"/>
                </a:solidFill>
              </a:rPr>
              <a:t>DIRECT LINE BRIDGE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Bot Service ↔ Copilot Studio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355080" y="1545336"/>
            <a:ext cx="2670048" cy="283464"/>
          </a:xfrm>
          <a:prstGeom prst="roundRect">
            <a:avLst/>
          </a:prstGeom>
          <a:solidFill>
            <a:srgbClr val="FAF5FF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82512" y="1545336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742774"/>
                </a:solidFill>
              </a:rPr>
              <a:t>4  </a:t>
            </a:r>
            <a:r>
              <a:rPr sz="600" b="1">
                <a:solidFill>
                  <a:srgbClr val="0F172A"/>
                </a:solidFill>
              </a:rPr>
              <a:t>INTAKE AGENT (AI)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11 loss-type topics · sub-flows · sentiment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355080" y="1847088"/>
            <a:ext cx="2670048" cy="283464"/>
          </a:xfrm>
          <a:prstGeom prst="roundRect">
            <a:avLst/>
          </a:prstGeom>
          <a:solidFill>
            <a:srgbClr val="FAF5FF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82512" y="1847088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742774"/>
                </a:solidFill>
              </a:rPr>
              <a:t>5  </a:t>
            </a:r>
            <a:r>
              <a:rPr sz="600" b="1">
                <a:solidFill>
                  <a:srgbClr val="0F172A"/>
                </a:solidFill>
              </a:rPr>
              <a:t>CREATE_CLAIM FLOW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Inserts Claim + Document rows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355080" y="2148840"/>
            <a:ext cx="2670048" cy="283464"/>
          </a:xfrm>
          <a:prstGeom prst="roundRect">
            <a:avLst/>
          </a:prstGeom>
          <a:solidFill>
            <a:srgbClr val="FAF5FF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82512" y="2148840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742774"/>
                </a:solidFill>
              </a:rPr>
              <a:t>6  </a:t>
            </a:r>
            <a:r>
              <a:rPr sz="600" b="1">
                <a:solidFill>
                  <a:srgbClr val="0F172A"/>
                </a:solidFill>
              </a:rPr>
              <a:t>MASTER ORCHESTRATION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Trigger on Claim insert · fan-out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355080" y="2450592"/>
            <a:ext cx="2670048" cy="283464"/>
          </a:xfrm>
          <a:prstGeom prst="roundRect">
            <a:avLst/>
          </a:prstGeom>
          <a:solidFill>
            <a:srgbClr val="EFF6FF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82512" y="2450592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0078D4"/>
                </a:solidFill>
              </a:rPr>
              <a:t>7  </a:t>
            </a:r>
            <a:r>
              <a:rPr sz="600" b="1">
                <a:solidFill>
                  <a:srgbClr val="0F172A"/>
                </a:solidFill>
              </a:rPr>
              <a:t>EXTRACTION AGENT (AI)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Doc Intel + GPT-4o Vision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5080" y="2752344"/>
            <a:ext cx="2670048" cy="283464"/>
          </a:xfrm>
          <a:prstGeom prst="roundRect">
            <a:avLst/>
          </a:prstGeom>
          <a:solidFill>
            <a:srgbClr val="EFF6FF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382512" y="2752344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0078D4"/>
                </a:solidFill>
              </a:rPr>
              <a:t>8  </a:t>
            </a:r>
            <a:r>
              <a:rPr sz="600" b="1">
                <a:solidFill>
                  <a:srgbClr val="0F172A"/>
                </a:solidFill>
              </a:rPr>
              <a:t>POLICY AGENT (AI)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AI Search vector RAG + citations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55080" y="3054096"/>
            <a:ext cx="2670048" cy="283464"/>
          </a:xfrm>
          <a:prstGeom prst="roundRect">
            <a:avLst/>
          </a:prstGeom>
          <a:solidFill>
            <a:srgbClr val="EFF6FF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82512" y="3054096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0078D4"/>
                </a:solidFill>
              </a:rPr>
              <a:t>9  </a:t>
            </a:r>
            <a:r>
              <a:rPr sz="600" b="1">
                <a:solidFill>
                  <a:srgbClr val="0F172A"/>
                </a:solidFill>
              </a:rPr>
              <a:t>VALIDATION AGENT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7 ext checks (NOAA, NHTSA live + 5 sb)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355080" y="3355848"/>
            <a:ext cx="2670048" cy="283464"/>
          </a:xfrm>
          <a:prstGeom prst="roundRect">
            <a:avLst/>
          </a:prstGeom>
          <a:solidFill>
            <a:srgbClr val="EFF6FF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82512" y="3355848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0078D4"/>
                </a:solidFill>
              </a:rPr>
              <a:t>10  </a:t>
            </a:r>
            <a:r>
              <a:rPr sz="600" b="1">
                <a:solidFill>
                  <a:srgbClr val="0F172A"/>
                </a:solidFill>
              </a:rPr>
              <a:t>ADJUDICATION (AI · GPT-4.1)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Decides + assigns tier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55080" y="3657600"/>
            <a:ext cx="2670048" cy="283464"/>
          </a:xfrm>
          <a:prstGeom prst="roundRect">
            <a:avLst/>
          </a:prstGeom>
          <a:solidFill>
            <a:srgbClr val="F0FDF4"/>
          </a:solidFill>
          <a:ln w="508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82512" y="3657600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</a:rPr>
              <a:t>11  </a:t>
            </a:r>
            <a:r>
              <a:rPr sz="600" b="1">
                <a:solidFill>
                  <a:srgbClr val="0F172A"/>
                </a:solidFill>
              </a:rPr>
              <a:t>TIER ROUTER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T1 auto · T2 adjuster · T3 CSR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355080" y="3959352"/>
            <a:ext cx="2670048" cy="283464"/>
          </a:xfrm>
          <a:prstGeom prst="roundRect">
            <a:avLst/>
          </a:prstGeom>
          <a:solidFill>
            <a:srgbClr val="FAF5FF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82512" y="3959352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742774"/>
                </a:solidFill>
              </a:rPr>
              <a:t>12  </a:t>
            </a:r>
            <a:r>
              <a:rPr sz="600" b="1">
                <a:solidFill>
                  <a:srgbClr val="0F172A"/>
                </a:solidFill>
              </a:rPr>
              <a:t>EXPLANATION AGENT (AI)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Runs every claim · plain English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355080" y="4261104"/>
            <a:ext cx="2670048" cy="283464"/>
          </a:xfrm>
          <a:prstGeom prst="roundRect">
            <a:avLst/>
          </a:prstGeom>
          <a:solidFill>
            <a:srgbClr val="F0FDF4"/>
          </a:solidFill>
          <a:ln w="508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382512" y="4261104"/>
            <a:ext cx="2615184" cy="283464"/>
          </a:xfrm>
          <a:prstGeom prst="rect">
            <a:avLst/>
          </a:prstGeom>
          <a:noFill/>
        </p:spPr>
        <p:txBody>
          <a:bodyPr wrap="square" lIns="15000" rIns="15000" tIns="10000" bIns="10000" anchor="ctr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</a:rPr>
              <a:t>13  </a:t>
            </a:r>
            <a:r>
              <a:rPr sz="600" b="1">
                <a:solidFill>
                  <a:srgbClr val="0F172A"/>
                </a:solidFill>
              </a:rPr>
              <a:t>NOTIFY_CUSTOMER</a:t>
            </a:r>
          </a:p>
          <a:p>
            <a:pPr algn="l"/>
            <a:r>
              <a:rPr sz="600">
                <a:solidFill>
                  <a:srgbClr val="0F172A"/>
                </a:solidFill>
              </a:rPr>
              <a:t>Reply on original channel · loop close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355080" y="4608576"/>
            <a:ext cx="2670048" cy="38404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82512" y="4608576"/>
            <a:ext cx="2615184" cy="384048"/>
          </a:xfrm>
          <a:prstGeom prst="rect">
            <a:avLst/>
          </a:prstGeom>
          <a:noFill/>
        </p:spPr>
        <p:txBody>
          <a:bodyPr wrap="square" lIns="15000" rIns="15000" tIns="10000" bIns="10000">
            <a:spAutoFit/>
          </a:bodyPr>
          <a:lstStyle/>
          <a:p>
            <a:pPr algn="l"/>
            <a:r>
              <a:rPr sz="700" b="1">
                <a:solidFill>
                  <a:srgbClr val="92400E"/>
                </a:solidFill>
              </a:rPr>
              <a:t>🛡 GLASS BOX  </a:t>
            </a:r>
            <a:r>
              <a:rPr sz="600">
                <a:solidFill>
                  <a:srgbClr val="92400E"/>
                </a:solidFill>
              </a:rPr>
              <a:t>(cross-cutting)</a:t>
            </a:r>
          </a:p>
          <a:p>
            <a:pPr algn="l"/>
            <a:r>
              <a:rPr sz="600">
                <a:solidFill>
                  <a:srgbClr val="92400E"/>
                </a:solidFill>
              </a:rPr>
              <a:t>1 row per AI step → CO SB21-169 · NAIC · NY DFS · CA AB 2930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152" y="4983480"/>
            <a:ext cx="9006840" cy="13716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ARROWS:  red = runtime flow  ·  red dashed = loop back to customer  ·  black = Tier-2 / Tier-3 human branches  ·  gold dashed = audit 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End to end Architecture Lead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Product Manager·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Tech </a:t>
            </a:r>
            <a:r>
              <a:rPr lang="en-US" sz="900" dirty="0" err="1">
                <a:solidFill>
                  <a:srgbClr val="555555"/>
                </a:solidFill>
                <a:latin typeface="Calibri"/>
              </a:rPr>
              <a:t>LeadFrontend</a:t>
            </a:r>
            <a:r>
              <a:rPr lang="en-US" sz="900" dirty="0">
                <a:solidFill>
                  <a:srgbClr val="555555"/>
                </a:solidFill>
                <a:latin typeface="Calibri"/>
              </a:rPr>
              <a:t>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Senior Architecture Lead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/>
              </a:rPr>
              <a:t>References &amp; Supporting Material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0" name="LeftCol"/>
          <p:cNvSpPr txBox="1"/>
          <p:nvPr/>
        </p:nvSpPr>
        <p:spPr>
          <a:xfrm>
            <a:off x="381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Repository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github.com/Sameet1308/Hack2future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Confluence — Product Management space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Product Requirements (R1–R25) · PM/1802274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Dataverse Schema (8 tables) · PM/1802251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Architecture (4 layers) · PM/1769476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Architectural Decisions Log (17+ ADRs) · PM/2097154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Intake Agent FNOL Spec · PM/1638411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Diagrams (editable in app.diagrams.net)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02_logical_architecture.drawio — C4 Level 2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03_er_diagram.drawio — 8 entities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04_assignment_flows.drawio — Handler + Vendor engines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Schema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glassbox_schema.csv — logical + physical names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glassbox_schema.xlsx — 10-sheet workbook</a:t>
            </a:r>
          </a:p>
        </p:txBody>
      </p:sp>
      <p:sp>
        <p:nvSpPr>
          <p:cNvPr id="201" name="RightCol"/>
          <p:cNvSpPr txBox="1"/>
          <p:nvPr/>
        </p:nvSpPr>
        <p:spPr>
          <a:xfrm>
            <a:off x="4699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Demo assets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Live React app — Vite + Tailwind (frontend/)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Theater Mode — /handler/theater/CLM-2026-4520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Delivery timeline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submission — 2026-05-18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evaluation — 2026-05-25 → 05-29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build — 2026-06-01 → 06-12 (12 days)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judging — 2026-06-16 → 06-24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Closure + winners — 2026-06-30 → 07-07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Regulatory references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Colorado SB21-169 — AI/ML non-discrimination &amp; governance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NAIC AI Model Bulletin (Dec 2023) — adopted by 20+ states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NY DFS Circular Letter No. 7 (2024) — AI documentation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CA AB 2930 (pending) — algorithmic transparency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3396</TotalTime>
  <Words>1530</Words>
  <Application>Microsoft Office PowerPoint</Application>
  <PresentationFormat>On-screen Show (16:9)</PresentationFormat>
  <Paragraphs>183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5</cp:revision>
  <dcterms:created xsi:type="dcterms:W3CDTF">2026-05-14T21:25:56Z</dcterms:created>
  <dcterms:modified xsi:type="dcterms:W3CDTF">2026-05-18T03:32:16Z</dcterms:modified>
</cp:coreProperties>
</file>