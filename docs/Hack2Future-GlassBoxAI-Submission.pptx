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3" r:id="rId5"/>
    <p:sldId id="260" r:id="rId6"/>
    <p:sldId id="264" r:id="rId7"/>
    <p:sldId id="265" r:id="rId8"/>
    <p:sldId id="266" r:id="rId9"/>
    <p:sldId id="267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45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</a:t>
            </a:r>
          </a:p>
          <a:p>
            <a:r>
              <a:rPr lang="en-US"/>
              <a:t>1) J.D. Power 2025 U.S. Auto Claims Satisfaction Study - cycle time 19.3 days (was 22.3): https://www.jdpower.com/business/press-releases/2025-us-auto-claims-satisfaction-study</a:t>
            </a:r>
          </a:p>
          <a:p>
            <a:r>
              <a:rPr lang="en-US"/>
              <a:t>2) Coalition Against Insurance Fraud (2022) - .6B annual US fraud cost: https://insurancefraud.org/wp-content/uploads/The-Impact-of-Insurance-Fraud-on-the-U.S.-Economy-Report-2022-8.26.2022.pdf</a:t>
            </a:r>
          </a:p>
          <a:p>
            <a:r>
              <a:rPr lang="en-US"/>
              <a:t>3) Accenture (2022) - Why AI in Insurance Claims and Underwriting -  premiums at risk, 30% switched / 47% considering: https://newsroom.accenture.com/news/2022/poor-claims-experiences-could-put-up-to-170b-of-global-insurance-premiums-at-risk-by-2027-according-to-new-accenture-research</a:t>
            </a:r>
          </a:p>
          <a:p>
            <a:r>
              <a:rPr lang="en-US"/>
              <a:t>4) NAIC AI Model Bulletin adoption - 24 states as of Mar 2025: https://www.insurereinsure.com/2025/03/19/wisconsin-becomes-the-24th-state-to-adopt-the-naic-model-bulletin-on-the-use-of-ais-in-insurance/</a:t>
            </a:r>
          </a:p>
          <a:p>
            <a:r>
              <a:rPr lang="en-US"/>
              <a:t>5) McKinsey - claims automation reduces loss adjustment expense 25-30%, indemnity 3-5 pts: https://www.mckinsey.com/industries/financial-services/our-insights/insurance-productivity-2030-reimagining-the-insurer-for-the-future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Value model math: 100,000 claims/yr x 60% Tier-1 straight-through = 60,000 claims. Personal-auto LAE benchmark 8-12% of losses; avg auto claim severity ~$4-6K -&gt; ~$400-600 LAE per claim; we assume ~$360 avoided per straight-through claim (the human-handling share) = ~$21.6M/yr. This sits inside McKinsey's published 25-30% LAE reduction band for claims automation.</a:t>
            </a:r>
          </a:p>
          <a:p>
            <a:r>
              <a:rPr lang="en-US"/>
              <a:t>Sources: McKinsey Insurance productivity 2030: https://www.mckinsey.com/industries/financial-services/our-insights/insurance-productivity-2030-reimagining-the-insurer-for-the-future</a:t>
            </a:r>
          </a:p>
          <a:p>
            <a:r>
              <a:rPr lang="en-US"/>
              <a:t>J.D. Power 2025 Auto Claims Study: https://www.jdpower.com/business/press-releases/2025-us-auto-claims-satisfaction-study</a:t>
            </a:r>
          </a:p>
          <a:p>
            <a:r>
              <a:rPr lang="en-US"/>
              <a:t>Coalition Against Insurance Fraud 2022: https://insurancefraud.org/wp-content/uploads/The-Impact-of-Insurance-Fraud-on-the-U.S.-Economy-Report-2022-8.26.2022.pdf</a:t>
            </a:r>
          </a:p>
          <a:p>
            <a:r>
              <a:rPr lang="en-US"/>
              <a:t>Accenture 2022: https://newsroom.accenture.com/news/2022/poor-claims-experiences-could-put-up-to-170b-of-global-insurance-premiums-at-risk-by-2027-according-to-new-accenture-research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Larsen &amp; Toubro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Company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498080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Hack2Future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04672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 x Microsoft Hackathon Partnership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" y="3063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Box AI
Agentic Claims Processing - POC Submission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89320" y="1920240"/>
            <a:ext cx="155448" cy="15544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8" name="Shape 6"/>
          <p:cNvSpPr/>
          <p:nvPr/>
        </p:nvSpPr>
        <p:spPr>
          <a:xfrm>
            <a:off x="6163056" y="1920240"/>
            <a:ext cx="155448" cy="15544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9" name="Shape 7"/>
          <p:cNvSpPr/>
          <p:nvPr/>
        </p:nvSpPr>
        <p:spPr>
          <a:xfrm>
            <a:off x="5989320" y="2093976"/>
            <a:ext cx="155448" cy="15544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0" name="Shape 8"/>
          <p:cNvSpPr/>
          <p:nvPr/>
        </p:nvSpPr>
        <p:spPr>
          <a:xfrm>
            <a:off x="6163056" y="2093976"/>
            <a:ext cx="155448" cy="15544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6537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1783080"/>
            <a:ext cx="502920" cy="777240"/>
          </a:xfrm>
          <a:prstGeom prst="chevron">
            <a:avLst/>
          </a:prstGeom>
          <a:solidFill>
            <a:srgbClr val="D84E1A"/>
          </a:solidFill>
          <a:ln/>
        </p:spPr>
      </p:sp>
      <p:pic>
        <p:nvPicPr>
          <p:cNvPr id="13" name="Image 0" descr="asset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6120"/>
            <a:ext cx="914400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64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81061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Sameet Dandawate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48256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5096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2173072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956816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7552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5528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424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Utkarsh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0008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7984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35624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2464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0440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7336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44184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Suraj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98080" y="9601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8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4920" y="1084936"/>
            <a:ext cx="326441" cy="326441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22896" y="1440180"/>
            <a:ext cx="710489" cy="59527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31" name="Shape 29"/>
          <p:cNvSpPr/>
          <p:nvPr/>
        </p:nvSpPr>
        <p:spPr>
          <a:xfrm>
            <a:off x="7479792" y="1915668"/>
            <a:ext cx="996696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029968"/>
            <a:ext cx="1143000" cy="2743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Abhijit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1612"/>
              </p:ext>
            </p:extLst>
          </p:nvPr>
        </p:nvGraphicFramePr>
        <p:xfrm>
          <a:off x="411480" y="2606040"/>
          <a:ext cx="83210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Elites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Challenge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Challenge 2 - Insurance: Agentic Claims Processing (Personal Auto)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Box AI - agentic claims processing where every AI decision is explained in plain English</a:t>
                      </a:r>
                      <a:endParaRPr lang="en-US" sz="12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Statement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repairable US auto claim takes 19.3 days to settle (J.D. Power 2025) and feels like a black box. Regulators now demand explainable AI (Colorado SB21-169, NAIC AI Bulletin in 20+ states, NY DFS) - carriers cannot deploy opaque automation, and customers in distress wait in silence.</a:t>
                      </a:r>
                      <a:endParaRPr lang="en-US" sz="11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6" name="Shape 3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8" name="Shape 3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9" name="Text 3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2280" y="0"/>
            <a:ext cx="2331720" cy="5143500"/>
          </a:xfrm>
          <a:prstGeom prst="rect">
            <a:avLst/>
          </a:prstGeom>
          <a:solidFill>
            <a:srgbClr val="F6E3D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790952"/>
              </p:ext>
            </p:extLst>
          </p:nvPr>
        </p:nvGraphicFramePr>
        <p:xfrm>
          <a:off x="411480" y="100584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Overview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 layers: Channels (React customer app with embedded Copilot Studio web chat, Teams, email, SMS) -&gt; Agents (Sara intake + Extraction, Policy, Validation, Adjudication, Explanation) -&gt; Service layer (Power Automate flows) -&gt; Data + AI (Dataverse, Azure OpenAI, AI Search, Document Intelligence). Every agent writes a plain-English row to Decision_Rationale BEFORE acting - the Glass Box. Diagram on the next slide.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Components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(Microsoft Technology / Services Touched)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Studio (Sara - FNOL intake) · Power Automate (GetPolicy, CreateClaim, LogDecision, GetClaimAudit + orchestration) · Dataverse (9 tables incl. Decision_Rationale audit) · Azure OpenAI GPT-4.1 (adjudication + explanations) · Azure AI Search (policy RAG) · Azure AI Document Intelligence · React + Azure Static Web Apps · OUR MCP SERVER - validates every external API call the agents make: NOAA + NHTSA live, 6 sandboxed industry adapters (ISO, NICB, CARFAX, DMV, KBB, telematics)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Compliance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0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Entra ID SSO (mock in sandbox) · Dataverse role-based access + row ownership · Encryption in transit and at rest · Immutable plain-English audit row per AI decision -&gt; Colorado SB21-169 / NAIC / NY DFS readiness · No PII sent to external APIs</a:t>
                      </a:r>
                      <a:endParaRPr lang="en-US" sz="10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995160" y="118872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Glass Box principle:
If an AI touches a claim, it writes down WHY - in language a regulator, a customer, and a judge can all read.
Full end-to-end flow diagram on the next slide.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8" name="Shape 5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9" name="Shape 6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0" name="Shape 7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1" name="Text 8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1F3515-F0F6-B1FB-F230-837BFA27DB4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55" y="990600"/>
            <a:ext cx="699729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4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117090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4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Challenge (20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claims processing, literally: six agents (Intake -&gt; Extraction -&gt; Policy -&gt; Validation -&gt; Adjudication -&gt; Explanation) take a personal-auto FNOL to a decision. Live: a chat with Sara creates a real claim + audit row in Dataverse in ~30s. All 11 auto loss types, all 5 lifecycle phases.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&amp; Creativity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Glass Box: every agent logs WHY in plain English BEFORE acting - compliance is the architecture, not a report. Theater Mode: watch the agents decide, live.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Implementation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Built, not slideware: published Copilot Studio agent embedded in our React app · 4 live Power Automate flows · 9-table Dataverse schema · GPT-4.1 adjudication · real NOAA + NHTSA calls · 6 sandboxed MCP tool adapters.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Experience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4-question conversation - 911 triage, injury empathy stop, claim number in chat. Adjusters: tiered queue (auto / review / escalate) + one-click live Theater. Same Sara on app, web, Teams, SMS, email.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&amp; Scalability (15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FNOL to decision in minutes vs the 19.3-day US norm (J.D. Power 2025); Tier-1 routine claims auto-approve. Policy lookup indexed for 200M policies; audit retrieval is one query per claim.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Presentation &amp; Pitch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Arc: distressed customer -&gt; 4-question chat -&gt; real claim number -&gt; Theater shows the agents deciding -&gt; the audit row that explains it. The video follows the same arc.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Adaptability &amp; Flexibility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Box is decision-agnostic: property, underwriting, lending, benefits reuse the log-before-acting pattern. Loss types, gate checks, state rules are Dataverse config, not code.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Impression (10 Points)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 system judges can poke: file a claim live, watch it process, read why.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does your POC/Tool worthy of GTM development 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900" i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 states adopting NAIC AI accountability -&gt; explainable claims AI becomes a license to automate. Ships on the carrier's existing Microsoft tenant. Path: pilot -&gt; state-filing audit pack -&gt; product.</a:t>
                      </a:r>
                      <a:endParaRPr lang="en-US" sz="900" i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800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143000" y="4873752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" name="Shape 3"/>
          <p:cNvSpPr/>
          <p:nvPr/>
        </p:nvSpPr>
        <p:spPr>
          <a:xfrm>
            <a:off x="1236269" y="4873752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4967021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8" name="Shape 5"/>
          <p:cNvSpPr/>
          <p:nvPr/>
        </p:nvSpPr>
        <p:spPr>
          <a:xfrm>
            <a:off x="1236269" y="4967021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9" name="Text 6"/>
          <p:cNvSpPr/>
          <p:nvPr/>
        </p:nvSpPr>
        <p:spPr>
          <a:xfrm>
            <a:off x="1355141" y="4818888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4837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49640" y="48371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Problem - By 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EDECB-1288-057D-460F-A8A29731514D}"/>
              </a:ext>
            </a:extLst>
          </p:cNvPr>
          <p:cNvSpPr txBox="1"/>
          <p:nvPr/>
        </p:nvSpPr>
        <p:spPr>
          <a:xfrm>
            <a:off x="381000" y="10668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19.3 days</a:t>
            </a:r>
          </a:p>
          <a:p>
            <a:r>
              <a:rPr lang="en-US" sz="950">
                <a:solidFill>
                  <a:srgbClr val="333333"/>
                </a:solidFill>
              </a:rPr>
              <a:t>average US auto repairable-claim cycle time - and that is the IMPROVED number, down from 22.3 days a year earlier</a:t>
            </a:r>
          </a:p>
          <a:p>
            <a:r>
              <a:rPr lang="en-US" sz="800" i="1">
                <a:solidFill>
                  <a:srgbClr val="787878"/>
                </a:solidFill>
              </a:rPr>
              <a:t>J.D. Power 2025 U.S. Auto Claims Satisfaction Study (9,455 claimants)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F13DA1-314A-8708-C256-F96BFFAF1D58}"/>
              </a:ext>
            </a:extLst>
          </p:cNvPr>
          <p:cNvSpPr txBox="1"/>
          <p:nvPr/>
        </p:nvSpPr>
        <p:spPr>
          <a:xfrm>
            <a:off x="4699000" y="10668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$308.6B / year</a:t>
            </a:r>
          </a:p>
          <a:p>
            <a:r>
              <a:rPr lang="en-US" sz="950">
                <a:solidFill>
                  <a:srgbClr val="333333"/>
                </a:solidFill>
              </a:rPr>
              <a:t>lost to insurance fraud in the US - ~$45B of it in property &amp; casualty lines. Most fraud checks today are sampled, not universal</a:t>
            </a:r>
          </a:p>
          <a:p>
            <a:r>
              <a:rPr lang="en-US" sz="800" i="1">
                <a:solidFill>
                  <a:srgbClr val="787878"/>
                </a:solidFill>
              </a:rPr>
              <a:t>Coalition Against Insurance Fraud, 2022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53809-0BD3-BAB5-E42C-B069435FE1C5}"/>
              </a:ext>
            </a:extLst>
          </p:cNvPr>
          <p:cNvSpPr txBox="1"/>
          <p:nvPr/>
        </p:nvSpPr>
        <p:spPr>
          <a:xfrm>
            <a:off x="381000" y="26924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$170B at risk by 2027</a:t>
            </a:r>
          </a:p>
          <a:p>
            <a:r>
              <a:rPr lang="en-US" sz="950">
                <a:solidFill>
                  <a:srgbClr val="333333"/>
                </a:solidFill>
              </a:rPr>
              <a:t>global premiums exposed to poor claims experiences: 30% of dissatisfied claimants already switched carriers, another 47% are considering it</a:t>
            </a:r>
          </a:p>
          <a:p>
            <a:r>
              <a:rPr lang="en-US" sz="800" i="1">
                <a:solidFill>
                  <a:srgbClr val="787878"/>
                </a:solidFill>
              </a:rPr>
              <a:t>Accenture, "Why AI in Insurance Claims &amp; Underwriting" (6,700 policyholders, 25 countries)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F026F7-EF7A-8D60-1C6B-578436D8AC4B}"/>
              </a:ext>
            </a:extLst>
          </p:cNvPr>
          <p:cNvSpPr txBox="1"/>
          <p:nvPr/>
        </p:nvSpPr>
        <p:spPr>
          <a:xfrm>
            <a:off x="4699000" y="2692400"/>
            <a:ext cx="4064000" cy="1524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000" b="1">
                <a:solidFill>
                  <a:srgbClr val="E2571B"/>
                </a:solidFill>
              </a:rPr>
              <a:t>24 states</a:t>
            </a:r>
          </a:p>
          <a:p>
            <a:r>
              <a:rPr lang="en-US" sz="950">
                <a:solidFill>
                  <a:srgbClr val="333333"/>
                </a:solidFill>
              </a:rPr>
              <a:t>have adopted the NAIC AI Model Bulletin (as of Mar 2025) + Colorado SB21-169 + NY DFS Circular 7: UNEXPLAINABLE AI is now undeployable in US insurance</a:t>
            </a:r>
          </a:p>
          <a:p>
            <a:r>
              <a:rPr lang="en-US" sz="800" i="1">
                <a:solidFill>
                  <a:srgbClr val="787878"/>
                </a:solidFill>
              </a:rPr>
              <a:t>NAIC / state insurance departments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543D85-1A64-6250-BF7B-2B491E35E889}"/>
              </a:ext>
            </a:extLst>
          </p:cNvPr>
          <p:cNvSpPr txBox="1"/>
          <p:nvPr/>
        </p:nvSpPr>
        <p:spPr>
          <a:xfrm>
            <a:off x="381000" y="4419600"/>
            <a:ext cx="8382000" cy="2540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950" i="1">
                <a:solidFill>
                  <a:srgbClr val="787878"/>
                </a:solidFill>
              </a:rPr>
              <a:t>Handling cost: loss adjustment expense (LAE) runs 8-12% of losses in personal auto - every routine claim carries heavy manual handling cost (industry benchmark). Full source links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359756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D9AD69-5247-0181-73B6-FED2A3E70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82036"/>
              </p:ext>
            </p:extLst>
          </p:nvPr>
        </p:nvGraphicFramePr>
        <p:xfrm>
          <a:off x="381000" y="1066800"/>
          <a:ext cx="5207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35829879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4866188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2340110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sz="950" b="1" i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E25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>
                          <a:solidFill>
                            <a:srgbClr val="FFFFFF"/>
                          </a:solidFill>
                        </a:rPr>
                        <a:t>Today (US industry)</a:t>
                      </a:r>
                    </a:p>
                  </a:txBody>
                  <a:tcPr>
                    <a:solidFill>
                      <a:srgbClr val="E257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 i="0">
                          <a:solidFill>
                            <a:srgbClr val="FFFFFF"/>
                          </a:solidFill>
                        </a:rPr>
                        <a:t>With Glass Box AI</a:t>
                      </a:r>
                    </a:p>
                  </a:txBody>
                  <a:tcPr>
                    <a:solidFill>
                      <a:srgbClr val="E257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31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FNOL 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30-min forms + phone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2-minute conversation with Sara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4521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Routine claim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19.3 days (J.D. Power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Minutes - Tier-1 straight-through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9389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Regulator / exam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Weeks reconstructing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One query - the audit wrote itself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8930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Adjuster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Buried in routine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Focused on Tier-2/3 judgment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5547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333333"/>
                          </a:solidFill>
                        </a:rPr>
                        <a:t>Customer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0">
                          <a:solidFill>
                            <a:srgbClr val="333333"/>
                          </a:solidFill>
                        </a:rPr>
                        <a:t>Silence between letters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i="0">
                          <a:solidFill>
                            <a:srgbClr val="E2571B"/>
                          </a:solidFill>
                        </a:rPr>
                        <a:t>Plain-English "why" at every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1316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FC6686-1B76-6C9B-5735-B52B64A7A757}"/>
              </a:ext>
            </a:extLst>
          </p:cNvPr>
          <p:cNvSpPr txBox="1"/>
          <p:nvPr/>
        </p:nvSpPr>
        <p:spPr>
          <a:xfrm>
            <a:off x="5816600" y="1066800"/>
            <a:ext cx="2946400" cy="3048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100" b="1">
                <a:solidFill>
                  <a:srgbClr val="333333"/>
                </a:solidFill>
              </a:rPr>
              <a:t>Value model - anchored to published research</a:t>
            </a:r>
          </a:p>
          <a:p>
            <a:r>
              <a:rPr lang="en-US" sz="900" i="1">
                <a:solidFill>
                  <a:srgbClr val="333333"/>
                </a:solidFill>
              </a:rPr>
              <a:t>McKinsey: straight-through processing + AI cuts loss adjustment expense 25-30% and indemnity 3-5 pts</a:t>
            </a:r>
          </a:p>
          <a:p>
            <a:endParaRPr lang="en-US" sz="900">
              <a:solidFill>
                <a:srgbClr val="333333"/>
              </a:solidFill>
            </a:endParaRPr>
          </a:p>
          <a:p>
            <a:r>
              <a:rPr lang="en-US" sz="900">
                <a:solidFill>
                  <a:srgbClr val="333333"/>
                </a:solidFill>
              </a:rPr>
              <a:t>Mid-size carrier, 100,000 auto claims/yr: ~60% Tier-1 eligible = 60,000 straight-through · ~$360 LAE avoided each (8-12% LAE benchmark)</a:t>
            </a:r>
          </a:p>
          <a:p>
            <a:r>
              <a:rPr lang="en-US" sz="1500" b="1">
                <a:solidFill>
                  <a:srgbClr val="E2571B"/>
                </a:solidFill>
              </a:rPr>
              <a:t>= ~$21M annual LAE reduction</a:t>
            </a:r>
          </a:p>
          <a:p>
            <a:r>
              <a:rPr lang="en-US" sz="900">
                <a:solidFill>
                  <a:srgbClr val="333333"/>
                </a:solidFill>
              </a:rPr>
              <a:t>Time: 19.3-day industry cycle -&gt; minutes (Tier 1) · Accuracy: 7 validations on 100% of claims, not samples - against a $308.6B/yr fraud drain · Retention: fixes the experience that made 30% of dissatisfied claimants switch.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69A390-5AF6-9A26-9D3A-9D9DB1169D86}"/>
              </a:ext>
            </a:extLst>
          </p:cNvPr>
          <p:cNvSpPr txBox="1"/>
          <p:nvPr/>
        </p:nvSpPr>
        <p:spPr>
          <a:xfrm>
            <a:off x="381000" y="4419600"/>
            <a:ext cx="8382000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900" i="1">
                <a:solidFill>
                  <a:srgbClr val="787878"/>
                </a:solidFill>
              </a:rPr>
              <a:t>Measured in this POC today: 30 sec from chat to claim + audit row · 100% of AI decisions logged · live NOAA + NHTSA calls. Sources: J.D. Power 2025 · CAIF 2022 · Accenture 2022 · McKinsey (links in slide notes).</a:t>
            </a:r>
          </a:p>
        </p:txBody>
      </p:sp>
    </p:spTree>
    <p:extLst>
      <p:ext uri="{BB962C8B-B14F-4D97-AF65-F5344CB8AC3E}">
        <p14:creationId xmlns:p14="http://schemas.microsoft.com/office/powerpoint/2010/main" val="382929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Customer Experience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B0C7B2-48C6-ADC1-2CB8-D8AABEAE7B0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00724" y="1206500"/>
            <a:ext cx="1326776" cy="2349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5C5EA2-684D-959C-0FFA-A5FBA7DAE6D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1206500"/>
            <a:ext cx="1326776" cy="2349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E247F9-6575-31EF-7933-D2CEDF315448}"/>
              </a:ext>
            </a:extLst>
          </p:cNvPr>
          <p:cNvSpPr txBox="1"/>
          <p:nvPr/>
        </p:nvSpPr>
        <p:spPr>
          <a:xfrm>
            <a:off x="2292724" y="3632200"/>
            <a:ext cx="2342776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One tap from policy to filing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09CF5-D6F2-6239-928E-855AF75B2D2F}"/>
              </a:ext>
            </a:extLst>
          </p:cNvPr>
          <p:cNvSpPr txBox="1"/>
          <p:nvPr/>
        </p:nvSpPr>
        <p:spPr>
          <a:xfrm>
            <a:off x="4508500" y="3632200"/>
            <a:ext cx="2342776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Sara files a REAL claim in 4 questions</a:t>
            </a:r>
          </a:p>
        </p:txBody>
      </p:sp>
    </p:spTree>
    <p:extLst>
      <p:ext uri="{BB962C8B-B14F-4D97-AF65-F5344CB8AC3E}">
        <p14:creationId xmlns:p14="http://schemas.microsoft.com/office/powerpoint/2010/main" val="370531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Theater Mode, Live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52FEC4-0E9D-CF20-3F94-245CE7E055B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6419" y="1206500"/>
            <a:ext cx="4371163" cy="234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9701FC-666D-6F76-87AB-D07320946748}"/>
              </a:ext>
            </a:extLst>
          </p:cNvPr>
          <p:cNvSpPr txBox="1"/>
          <p:nvPr/>
        </p:nvSpPr>
        <p:spPr>
          <a:xfrm>
            <a:off x="2386419" y="3632200"/>
            <a:ext cx="4371163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Real Dataverse audit rows: agent pipeline + plain-English Glass Box feed + auto-approve verdict</a:t>
            </a:r>
          </a:p>
        </p:txBody>
      </p:sp>
    </p:spTree>
    <p:extLst>
      <p:ext uri="{BB962C8B-B14F-4D97-AF65-F5344CB8AC3E}">
        <p14:creationId xmlns:p14="http://schemas.microsoft.com/office/powerpoint/2010/main" val="88959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POC - Adjuster Command Center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47365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43000" y="4809744"/>
            <a:ext cx="82296" cy="82296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236269" y="4809744"/>
            <a:ext cx="82296" cy="82296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903013"/>
            <a:ext cx="82296" cy="82296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236269" y="4903013"/>
            <a:ext cx="82296" cy="8229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Text 6"/>
          <p:cNvSpPr/>
          <p:nvPr/>
        </p:nvSpPr>
        <p:spPr>
          <a:xfrm>
            <a:off x="1355141" y="4754880"/>
            <a:ext cx="12801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©LTM | Privileged and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4964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213CF0-2915-ECBD-E757-AD748DB731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6419" y="1206500"/>
            <a:ext cx="4371163" cy="2349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80DA24-AB30-1F5C-BB86-B4001F87123B}"/>
              </a:ext>
            </a:extLst>
          </p:cNvPr>
          <p:cNvSpPr txBox="1"/>
          <p:nvPr/>
        </p:nvSpPr>
        <p:spPr>
          <a:xfrm>
            <a:off x="2386419" y="3632200"/>
            <a:ext cx="4371163" cy="228600"/>
          </a:xfrm>
          <a:prstGeom prst="rect">
            <a:avLst/>
          </a:prstGeom>
          <a:noFill/>
        </p:spPr>
        <p:txBody>
          <a:bodyPr vert="horz" rtlCol="0">
            <a:noAutofit/>
          </a:bodyPr>
          <a:lstStyle/>
          <a:p>
            <a:pPr algn="ctr"/>
            <a:r>
              <a:rPr lang="en-US" sz="1100">
                <a:solidFill>
                  <a:srgbClr val="787878"/>
                </a:solidFill>
              </a:rPr>
              <a:t>Tiered queue: Tier 1 auto-approved, Tier 2 human review, Tier 3 escalation - one click to watch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Microsoft Office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Hack2Future - POC+Solution Submission Template</dc:title>
  <dc:subject>PptxGenJS Presentation</dc:subject>
  <dc:creator>PptxGenJS</dc:creator>
  <cp:lastModifiedBy>Sameet Dandawate</cp:lastModifiedBy>
  <cp:revision>2</cp:revision>
  <dcterms:created xsi:type="dcterms:W3CDTF">2026-06-12T03:43:12Z</dcterms:created>
  <dcterms:modified xsi:type="dcterms:W3CDTF">2026-06-12T17:53:57Z</dcterms:modified>
</cp:coreProperties>
</file>