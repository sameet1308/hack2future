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6" r:id="rId2"/>
    <p:sldId id="297" r:id="rId3"/>
    <p:sldId id="301" r:id="rId4"/>
    <p:sldId id="303" r:id="rId5"/>
    <p:sldId id="304" r:id="rId14"/>
    <p:sldId id="302" r:id="rId6"/>
    <p:sldId id="280" r:id="rId7"/>
    <p:sldId id="28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BA9B84-F734-96CC-4B90-4D7A566A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63500"/>
            <a:ext cx="2873774" cy="50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100062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45720"/>
            <a:ext cx="8961120" cy="201168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l"/>
            <a:r>
              <a:rPr sz="1200" b="1" i="0">
                <a:solidFill>
                  <a:srgbClr val="0A2540"/>
                </a:solidFill>
              </a:rPr>
              <a:t>Logical Architecture (C4 L2)  —  left-to-right 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228600"/>
            <a:ext cx="8961120" cy="13716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Numbers 1–13 trace runtime flow  ·  red = flow  ·  black = human review  ·  gold = audit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384048"/>
            <a:ext cx="8321040" cy="50292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" y="384048"/>
            <a:ext cx="685800" cy="502920"/>
          </a:xfrm>
          <a:prstGeom prst="roundRect">
            <a:avLst/>
          </a:prstGeom>
          <a:solidFill>
            <a:srgbClr val="EA580C"/>
          </a:solidFill>
          <a:ln w="63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84048"/>
            <a:ext cx="685800" cy="50292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CUSTOMER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&amp; CHANNELS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905256"/>
            <a:ext cx="8321040" cy="50292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" y="905256"/>
            <a:ext cx="685800" cy="502920"/>
          </a:xfrm>
          <a:prstGeom prst="roundRect">
            <a:avLst/>
          </a:prstGeom>
          <a:solidFill>
            <a:srgbClr val="0078D4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" y="905256"/>
            <a:ext cx="685800" cy="50292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FRONTEND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(SWA)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426464"/>
            <a:ext cx="8321040" cy="594360"/>
          </a:xfrm>
          <a:prstGeom prst="rect">
            <a:avLst/>
          </a:prstGeom>
          <a:solidFill>
            <a:srgbClr val="FAF5FF"/>
          </a:solidFill>
          <a:ln w="635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" y="1426464"/>
            <a:ext cx="685800" cy="594360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1426464"/>
            <a:ext cx="685800" cy="59436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COPILOT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039112"/>
            <a:ext cx="8321040" cy="594360"/>
          </a:xfrm>
          <a:prstGeom prst="rect">
            <a:avLst/>
          </a:prstGeom>
          <a:solidFill>
            <a:srgbClr val="FAF5FF"/>
          </a:solidFill>
          <a:ln w="635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" y="2039112"/>
            <a:ext cx="685800" cy="594360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" y="2039112"/>
            <a:ext cx="685800" cy="59436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POWER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AUTOMATE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2651760"/>
            <a:ext cx="8321040" cy="91440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" y="2651760"/>
            <a:ext cx="685800" cy="914400"/>
          </a:xfrm>
          <a:prstGeom prst="roundRect">
            <a:avLst/>
          </a:prstGeom>
          <a:solidFill>
            <a:srgbClr val="0078D4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" y="2651760"/>
            <a:ext cx="685800" cy="91440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AZURE AI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584448"/>
            <a:ext cx="8321040" cy="502920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" y="3584448"/>
            <a:ext cx="685800" cy="502920"/>
          </a:xfrm>
          <a:prstGeom prst="roundRect">
            <a:avLst/>
          </a:prstGeom>
          <a:solidFill>
            <a:srgbClr val="107C10"/>
          </a:solidFill>
          <a:ln w="63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" y="3584448"/>
            <a:ext cx="685800" cy="50292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M365 TEAMS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(Human)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05656"/>
            <a:ext cx="8321040" cy="960120"/>
          </a:xfrm>
          <a:prstGeom prst="rect">
            <a:avLst/>
          </a:prstGeom>
          <a:solidFill>
            <a:srgbClr val="FEF3C7"/>
          </a:solidFill>
          <a:ln w="635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" y="4105656"/>
            <a:ext cx="685800" cy="960120"/>
          </a:xfrm>
          <a:prstGeom prst="roundRect">
            <a:avLst/>
          </a:prstGeom>
          <a:solidFill>
            <a:srgbClr val="D99416"/>
          </a:solidFill>
          <a:ln w="63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" y="4105656"/>
            <a:ext cx="685800" cy="96012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DATAVERSE</a:t>
            </a:r>
          </a:p>
          <a:p>
            <a:pPr algn="ctr"/>
            <a:r>
              <a:rPr sz="700" b="1" i="0">
                <a:solidFill>
                  <a:srgbClr val="FFFFFF"/>
                </a:solidFill>
              </a:rPr>
              <a:t>Glass Box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48056"/>
            <a:ext cx="1188720" cy="384048"/>
          </a:xfrm>
          <a:prstGeom prst="roundRect">
            <a:avLst/>
          </a:prstGeom>
          <a:solidFill>
            <a:srgbClr val="EA580C"/>
          </a:solidFill>
          <a:ln w="6350">
            <a:solidFill>
              <a:srgbClr val="9A3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48056"/>
            <a:ext cx="1188720" cy="384048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700" b="1">
                <a:solidFill>
                  <a:srgbClr val="FFFFFF"/>
                </a:solidFill>
              </a:rPr>
              <a:t>Customer + 5 channels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80160" y="969264"/>
            <a:ext cx="1188720" cy="384048"/>
          </a:xfrm>
          <a:prstGeom prst="roundRect">
            <a:avLst/>
          </a:prstGeom>
          <a:solidFill>
            <a:srgbClr val="DBEAFE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969264"/>
            <a:ext cx="1188720" cy="384048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0A2540"/>
                </a:solidFill>
              </a:rPr>
              <a:t>2</a:t>
            </a:r>
          </a:p>
          <a:p>
            <a:pPr algn="ctr"/>
            <a:r>
              <a:rPr sz="700" b="1">
                <a:solidFill>
                  <a:srgbClr val="0A2540"/>
                </a:solidFill>
              </a:rPr>
              <a:t>React SPA + Token Broker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60320" y="969264"/>
            <a:ext cx="1188720" cy="384048"/>
          </a:xfrm>
          <a:prstGeom prst="roundRect">
            <a:avLst/>
          </a:prstGeom>
          <a:solidFill>
            <a:srgbClr val="DBEAFE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969264"/>
            <a:ext cx="1188720" cy="384048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0A2540"/>
                </a:solidFill>
              </a:rPr>
              <a:t>3</a:t>
            </a:r>
          </a:p>
          <a:p>
            <a:pPr algn="ctr"/>
            <a:r>
              <a:rPr sz="700" b="1">
                <a:solidFill>
                  <a:srgbClr val="0A2540"/>
                </a:solidFill>
              </a:rPr>
              <a:t>Direct Line / 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1508760"/>
            <a:ext cx="1188720" cy="457200"/>
          </a:xfrm>
          <a:prstGeom prst="roundRect">
            <a:avLst/>
          </a:prstGeom>
          <a:solidFill>
            <a:srgbClr val="EDE4F5"/>
          </a:solidFill>
          <a:ln w="1270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60320" y="1508760"/>
            <a:ext cx="1188720" cy="457200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3D2C70"/>
                </a:solidFill>
              </a:rPr>
              <a:t>4</a:t>
            </a:r>
          </a:p>
          <a:p>
            <a:pPr algn="ctr"/>
            <a:r>
              <a:rPr sz="700" b="1">
                <a:solidFill>
                  <a:srgbClr val="3D2C70"/>
                </a:solidFill>
              </a:rPr>
              <a:t>Intake Agent (AI)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1508760"/>
            <a:ext cx="1645920" cy="457200"/>
          </a:xfrm>
          <a:prstGeom prst="roundRect">
            <a:avLst/>
          </a:prstGeom>
          <a:solidFill>
            <a:srgbClr val="EDE4F5"/>
          </a:solidFill>
          <a:ln w="1270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1508760"/>
            <a:ext cx="1645920" cy="457200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3D2C70"/>
                </a:solidFill>
              </a:rPr>
              <a:t>12</a:t>
            </a:r>
          </a:p>
          <a:p>
            <a:pPr algn="ctr"/>
            <a:r>
              <a:rPr sz="700" b="1">
                <a:solidFill>
                  <a:srgbClr val="3D2C70"/>
                </a:solidFill>
              </a:rPr>
              <a:t>Explanation Agent (AI — NOT CSR)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17520" y="2103120"/>
            <a:ext cx="1051560" cy="457200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2103120"/>
            <a:ext cx="1051560" cy="457200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3D2C70"/>
                </a:solidFill>
              </a:rPr>
              <a:t>5</a:t>
            </a:r>
          </a:p>
          <a:p>
            <a:pPr algn="ctr"/>
            <a:r>
              <a:rPr sz="700" b="1">
                <a:solidFill>
                  <a:srgbClr val="3D2C70"/>
                </a:solidFill>
              </a:rPr>
              <a:t>Create_Claim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60520" y="2103120"/>
            <a:ext cx="1280160" cy="457200"/>
          </a:xfrm>
          <a:prstGeom prst="roundRect">
            <a:avLst/>
          </a:prstGeom>
          <a:solidFill>
            <a:srgbClr val="EDE4F5"/>
          </a:solidFill>
          <a:ln w="1270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2103120"/>
            <a:ext cx="1280160" cy="457200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3D2C70"/>
                </a:solidFill>
              </a:rPr>
              <a:t>6</a:t>
            </a:r>
          </a:p>
          <a:p>
            <a:pPr algn="ctr"/>
            <a:r>
              <a:rPr sz="700" b="1">
                <a:solidFill>
                  <a:srgbClr val="3D2C70"/>
                </a:solidFill>
              </a:rPr>
              <a:t>Master Orchestration</a:t>
            </a:r>
          </a:p>
        </p:txBody>
      </p:sp>
      <p:sp>
        <p:nvSpPr>
          <p:cNvPr id="39" name="Diamond 38"/>
          <p:cNvSpPr/>
          <p:nvPr/>
        </p:nvSpPr>
        <p:spPr>
          <a:xfrm>
            <a:off x="5760720" y="2103120"/>
            <a:ext cx="822960" cy="50292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0" y="2121408"/>
            <a:ext cx="822960" cy="45720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800" b="1" i="0">
                <a:solidFill>
                  <a:srgbClr val="0E3A0E"/>
                </a:solidFill>
              </a:rPr>
              <a:t>11</a:t>
            </a:r>
          </a:p>
          <a:p>
            <a:pPr algn="ctr"/>
            <a:r>
              <a:rPr sz="800" b="1" i="0">
                <a:solidFill>
                  <a:srgbClr val="0E3A0E"/>
                </a:solidFill>
              </a:rPr>
              <a:t>Tier Router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6560" y="2103120"/>
            <a:ext cx="1280160" cy="45720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2103120"/>
            <a:ext cx="1280160" cy="457200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0E3A0E"/>
                </a:solidFill>
              </a:rPr>
              <a:t>13</a:t>
            </a:r>
          </a:p>
          <a:p>
            <a:pPr algn="ctr"/>
            <a:r>
              <a:rPr sz="700" b="1">
                <a:solidFill>
                  <a:srgbClr val="0E3A0E"/>
                </a:solidFill>
              </a:rPr>
              <a:t>Notify_Customer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17520" y="2715768"/>
            <a:ext cx="1645920" cy="24688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0" y="2715768"/>
            <a:ext cx="1645920" cy="246888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800" b="1" i="0">
                <a:solidFill>
                  <a:srgbClr val="0A2540"/>
                </a:solidFill>
              </a:rPr>
              <a:t>7  Extraction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17520" y="2990088"/>
            <a:ext cx="1645920" cy="24688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0" y="2990088"/>
            <a:ext cx="1645920" cy="246888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800" b="1" i="0">
                <a:solidFill>
                  <a:srgbClr val="0A2540"/>
                </a:solidFill>
              </a:rPr>
              <a:t>8  Policy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17520" y="3264408"/>
            <a:ext cx="1645920" cy="24688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264408"/>
            <a:ext cx="1645920" cy="246888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9  Validation · 7 ext checks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46320" y="2834640"/>
            <a:ext cx="1737360" cy="594360"/>
          </a:xfrm>
          <a:prstGeom prst="roundRect">
            <a:avLst/>
          </a:prstGeom>
          <a:solidFill>
            <a:srgbClr val="0A2540"/>
          </a:solidFill>
          <a:ln w="1905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2834640"/>
            <a:ext cx="1737360" cy="594360"/>
          </a:xfrm>
          <a:prstGeom prst="rect">
            <a:avLst/>
          </a:prstGeom>
          <a:noFill/>
        </p:spPr>
        <p:txBody>
          <a:bodyPr wrap="square" lIns="20000" rIns="20000" tIns="15000" bIns="150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10</a:t>
            </a:r>
          </a:p>
          <a:p>
            <a:pPr algn="ctr"/>
            <a:r>
              <a:rPr sz="700" b="1">
                <a:solidFill>
                  <a:srgbClr val="FFFFFF"/>
                </a:solidFill>
              </a:rPr>
              <a:t>Adjudication  ·  GPT-4.1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0" y="3630168"/>
            <a:ext cx="1188720" cy="182880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0" y="3630168"/>
            <a:ext cx="1188720" cy="18288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92400E"/>
                </a:solidFill>
              </a:rPr>
              <a:t>T2 · Adjuster Teams Card (back-office human)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23760" y="3630168"/>
            <a:ext cx="1188720" cy="1828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23760" y="3630168"/>
            <a:ext cx="1188720" cy="18288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7F1D1D"/>
                </a:solidFill>
              </a:rPr>
              <a:t>T3 · Live CSR Teams Chat (front-line human)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3840480"/>
            <a:ext cx="2468880" cy="16459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0" i="1">
                <a:solidFill>
                  <a:srgbClr val="5A6680"/>
                </a:solidFill>
              </a:rPr>
              <a:t>Tier 1 = auto-approve, no human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" y="4169663"/>
            <a:ext cx="64008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169663"/>
            <a:ext cx="64008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508760" y="4169663"/>
            <a:ext cx="64008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08760" y="4169663"/>
            <a:ext cx="64008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94560" y="4169663"/>
            <a:ext cx="73152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94560" y="4169663"/>
            <a:ext cx="73152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Document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71800" y="4169663"/>
            <a:ext cx="91440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71800" y="4169663"/>
            <a:ext cx="91440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Communication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931920" y="4169663"/>
            <a:ext cx="64008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31920" y="4169663"/>
            <a:ext cx="64008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Adjuster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17720" y="4169663"/>
            <a:ext cx="64008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17720" y="4169663"/>
            <a:ext cx="64008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03520" y="4169663"/>
            <a:ext cx="1280160" cy="256032"/>
          </a:xfrm>
          <a:prstGeom prst="roundRect">
            <a:avLst/>
          </a:prstGeom>
          <a:solidFill>
            <a:srgbClr val="742774"/>
          </a:solidFill>
          <a:ln w="635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0" y="4169663"/>
            <a:ext cx="1280160" cy="256032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ClaimVendorAssignment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960" y="4498848"/>
            <a:ext cx="7818120" cy="411480"/>
          </a:xfrm>
          <a:prstGeom prst="roundRect">
            <a:avLst/>
          </a:prstGeom>
          <a:solidFill>
            <a:srgbClr val="F5B73A"/>
          </a:solidFill>
          <a:ln w="2540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498848"/>
            <a:ext cx="7818120" cy="41148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ctr"/>
            <a:r>
              <a:rPr sz="800" b="1" i="0">
                <a:solidFill>
                  <a:srgbClr val="0A2540"/>
                </a:solidFill>
              </a:rPr>
              <a:t>🛡  Decision_Rationale  ·  THE GLASS BOX  ·  every AI step writes 1 row  ·  source: 4 · 7 · 8 · 9 · 10 · 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" y="4983480"/>
            <a:ext cx="8961120" cy="137160"/>
          </a:xfrm>
          <a:prstGeom prst="rect">
            <a:avLst/>
          </a:prstGeom>
          <a:noFill/>
        </p:spPr>
        <p:txBody>
          <a:bodyPr wrap="square" lIns="20000" rIns="20000" tIns="10000" bIns="10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AI Elites carrier  ·  Glass Box AI  ·  Compliance: CO SB21-169 · NAIC AI Bulletin · NY DFS Circular 7 · CA AB 2930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End to end Architecture Lead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Product Manager·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Tech </a:t>
            </a:r>
            <a:r>
              <a:rPr lang="en-US" sz="900" dirty="0" err="1">
                <a:solidFill>
                  <a:srgbClr val="555555"/>
                </a:solidFill>
                <a:latin typeface="Calibri"/>
              </a:rPr>
              <a:t>LeadFrontend</a:t>
            </a:r>
            <a:r>
              <a:rPr lang="en-US" sz="900" dirty="0">
                <a:solidFill>
                  <a:srgbClr val="555555"/>
                </a:solidFill>
                <a:latin typeface="Calibri"/>
              </a:rPr>
              <a:t>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Senior Architecture Lead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/>
              </a:rPr>
              <a:t>References &amp; Supporting Material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0" name="LeftCol"/>
          <p:cNvSpPr txBox="1"/>
          <p:nvPr/>
        </p:nvSpPr>
        <p:spPr>
          <a:xfrm>
            <a:off x="381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Repository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github.com/Sameet1308/Hack2future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Confluence — Product Management space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Product Requirements (R1–R25) · PM/1802274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Dataverse Schema (8 tables) · PM/1802251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Architecture (4 layers) · PM/1769476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Architectural Decisions Log (17+ ADRs) · PM/2097154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Intake Agent FNOL Spec · PM/1638411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Diagrams (editable in app.diagrams.net)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02_logical_architecture.drawio — C4 Level 2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03_er_diagram.drawio — 8 entities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04_assignment_flows.drawio — Handler + Vendor engines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Schema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glassbox_schema.csv — logical + physical names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glassbox_schema.xlsx — 10-sheet workbook</a:t>
            </a:r>
          </a:p>
        </p:txBody>
      </p:sp>
      <p:sp>
        <p:nvSpPr>
          <p:cNvPr id="201" name="RightCol"/>
          <p:cNvSpPr txBox="1"/>
          <p:nvPr/>
        </p:nvSpPr>
        <p:spPr>
          <a:xfrm>
            <a:off x="4699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Demo assets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Live React app — Vite + Tailwind (frontend/)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Theater Mode — /handler/theater/CLM-2026-4520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Delivery timeline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submission — 2026-05-18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evaluation — 2026-05-25 → 05-29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build — 2026-06-01 → 06-12 (12 days)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judging — 2026-06-16 → 06-24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Closure + winners — 2026-06-30 → 07-07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Regulatory references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Colorado SB21-169 — AI/ML non-discrimination &amp; governance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NAIC AI Model Bulletin (Dec 2023) — adopted by 20+ states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NY DFS Circular Letter No. 7 (2024) — AI documentation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CA AB 2930 (pending) — algorithmic transparency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3396</TotalTime>
  <Words>1530</Words>
  <Application>Microsoft Office PowerPoint</Application>
  <PresentationFormat>On-screen Show (16:9)</PresentationFormat>
  <Paragraphs>183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5</cp:revision>
  <dcterms:created xsi:type="dcterms:W3CDTF">2026-05-14T21:25:56Z</dcterms:created>
  <dcterms:modified xsi:type="dcterms:W3CDTF">2026-05-18T03:32:16Z</dcterms:modified>
</cp:coreProperties>
</file>